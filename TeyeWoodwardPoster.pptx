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1" r:id="rId4"/>
  </p:sldMasterIdLst>
  <p:notesMasterIdLst>
    <p:notesMasterId r:id="rId6"/>
  </p:notesMasterIdLst>
  <p:sldIdLst>
    <p:sldId id="258" r:id="rId5"/>
  </p:sldIdLst>
  <p:sldSz cx="32918400" cy="43891200"/>
  <p:notesSz cx="10020300" cy="144494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41BA64A-08D4-A03C-C984-D57EA3358506}" name="Woodward, Samantha Anneli" initials="WS" userId="S::sawoodwa@iu.edu::4ac2ca03-2e89-44d9-a581-14236975eb22" providerId="AD"/>
  <p188:author id="{20ABBFDF-9B1C-50EE-5ED6-90087F0A4B3B}" name="Teye, Sam" initials="ST" userId="S::steye@iu.edu::9e63a50f-c2b7-40ce-880c-13204ebc3f5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00"/>
    <a:srgbClr val="690304"/>
    <a:srgbClr val="DEDAD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E8675E-039A-D467-E458-8F52234AE05F}" v="126" dt="2024-12-20T17:23:11.103"/>
    <p1510:client id="{37EB94C9-65D7-744C-858F-71407E34DDFD}" v="783" dt="2024-12-20T05:46:21.883"/>
    <p1510:client id="{49C7A299-B567-331D-61C3-87BC554A1C26}" v="7165" dt="2024-12-19T21:38:38.756"/>
    <p1510:client id="{9C6A0EAD-303D-4CD3-914A-ECB2FFD6DAB6}" v="883" dt="2024-12-20T18:09:50.276"/>
    <p1510:client id="{A04DBC37-C787-070E-F8D3-5FEF6F404368}" v="1" dt="2024-12-20T01:13:01.097"/>
    <p1510:client id="{E95ED6CE-65C8-2868-4D5D-7B4063B2B00B}" v="107" dt="2024-12-20T17:30:24.4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 d="100"/>
          <a:sy n="15" d="100"/>
        </p:scale>
        <p:origin x="32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342130" cy="724981"/>
          </a:xfrm>
          <a:prstGeom prst="rect">
            <a:avLst/>
          </a:prstGeom>
        </p:spPr>
        <p:txBody>
          <a:bodyPr vert="horz" lIns="139810" tIns="69905" rIns="139810" bIns="69905" rtlCol="0"/>
          <a:lstStyle>
            <a:lvl1pPr algn="l">
              <a:defRPr sz="1800"/>
            </a:lvl1pPr>
          </a:lstStyle>
          <a:p>
            <a:endParaRPr lang="en-US"/>
          </a:p>
        </p:txBody>
      </p:sp>
      <p:sp>
        <p:nvSpPr>
          <p:cNvPr id="3" name="Date Placeholder 2"/>
          <p:cNvSpPr>
            <a:spLocks noGrp="1"/>
          </p:cNvSpPr>
          <p:nvPr>
            <p:ph type="dt" idx="1"/>
          </p:nvPr>
        </p:nvSpPr>
        <p:spPr>
          <a:xfrm>
            <a:off x="5675851" y="0"/>
            <a:ext cx="4342130" cy="724981"/>
          </a:xfrm>
          <a:prstGeom prst="rect">
            <a:avLst/>
          </a:prstGeom>
        </p:spPr>
        <p:txBody>
          <a:bodyPr vert="horz" lIns="139810" tIns="69905" rIns="139810" bIns="69905" rtlCol="0"/>
          <a:lstStyle>
            <a:lvl1pPr algn="r">
              <a:defRPr sz="1800"/>
            </a:lvl1pPr>
          </a:lstStyle>
          <a:p>
            <a:fld id="{E2C8DFE7-E329-4449-A4DA-E4FE3665DE2C}" type="datetimeFigureOut">
              <a:rPr lang="en-US" smtClean="0"/>
              <a:t>12/20/2024</a:t>
            </a:fld>
            <a:endParaRPr lang="en-US"/>
          </a:p>
        </p:txBody>
      </p:sp>
      <p:sp>
        <p:nvSpPr>
          <p:cNvPr id="4" name="Slide Image Placeholder 3"/>
          <p:cNvSpPr>
            <a:spLocks noGrp="1" noRot="1" noChangeAspect="1"/>
          </p:cNvSpPr>
          <p:nvPr>
            <p:ph type="sldImg" idx="2"/>
          </p:nvPr>
        </p:nvSpPr>
        <p:spPr>
          <a:xfrm>
            <a:off x="3181350" y="1806575"/>
            <a:ext cx="3657600" cy="4876800"/>
          </a:xfrm>
          <a:prstGeom prst="rect">
            <a:avLst/>
          </a:prstGeom>
          <a:noFill/>
          <a:ln w="12700">
            <a:solidFill>
              <a:prstClr val="black"/>
            </a:solidFill>
          </a:ln>
        </p:spPr>
        <p:txBody>
          <a:bodyPr vert="horz" lIns="139810" tIns="69905" rIns="139810" bIns="69905" rtlCol="0" anchor="ctr"/>
          <a:lstStyle/>
          <a:p>
            <a:endParaRPr lang="en-US"/>
          </a:p>
        </p:txBody>
      </p:sp>
      <p:sp>
        <p:nvSpPr>
          <p:cNvPr id="5" name="Notes Placeholder 4"/>
          <p:cNvSpPr>
            <a:spLocks noGrp="1"/>
          </p:cNvSpPr>
          <p:nvPr>
            <p:ph type="body" sz="quarter" idx="3"/>
          </p:nvPr>
        </p:nvSpPr>
        <p:spPr>
          <a:xfrm>
            <a:off x="1002030" y="6953787"/>
            <a:ext cx="8016240" cy="5689461"/>
          </a:xfrm>
          <a:prstGeom prst="rect">
            <a:avLst/>
          </a:prstGeom>
        </p:spPr>
        <p:txBody>
          <a:bodyPr vert="horz" lIns="139810" tIns="69905" rIns="139810" bIns="6990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13724448"/>
            <a:ext cx="4342130" cy="724979"/>
          </a:xfrm>
          <a:prstGeom prst="rect">
            <a:avLst/>
          </a:prstGeom>
        </p:spPr>
        <p:txBody>
          <a:bodyPr vert="horz" lIns="139810" tIns="69905" rIns="139810" bIns="69905" rtlCol="0" anchor="b"/>
          <a:lstStyle>
            <a:lvl1pPr algn="l">
              <a:defRPr sz="1800"/>
            </a:lvl1pPr>
          </a:lstStyle>
          <a:p>
            <a:endParaRPr lang="en-US"/>
          </a:p>
        </p:txBody>
      </p:sp>
      <p:sp>
        <p:nvSpPr>
          <p:cNvPr id="7" name="Slide Number Placeholder 6"/>
          <p:cNvSpPr>
            <a:spLocks noGrp="1"/>
          </p:cNvSpPr>
          <p:nvPr>
            <p:ph type="sldNum" sz="quarter" idx="5"/>
          </p:nvPr>
        </p:nvSpPr>
        <p:spPr>
          <a:xfrm>
            <a:off x="5675851" y="13724448"/>
            <a:ext cx="4342130" cy="724979"/>
          </a:xfrm>
          <a:prstGeom prst="rect">
            <a:avLst/>
          </a:prstGeom>
        </p:spPr>
        <p:txBody>
          <a:bodyPr vert="horz" lIns="139810" tIns="69905" rIns="139810" bIns="69905" rtlCol="0" anchor="b"/>
          <a:lstStyle>
            <a:lvl1pPr algn="r">
              <a:defRPr sz="1800"/>
            </a:lvl1pPr>
          </a:lstStyle>
          <a:p>
            <a:fld id="{3A3FD25A-2FCE-4043-9002-185A707B9614}" type="slidenum">
              <a:rPr lang="en-US" smtClean="0"/>
              <a:t>‹#›</a:t>
            </a:fld>
            <a:endParaRPr lang="en-US"/>
          </a:p>
        </p:txBody>
      </p:sp>
    </p:spTree>
    <p:extLst>
      <p:ext uri="{BB962C8B-B14F-4D97-AF65-F5344CB8AC3E}">
        <p14:creationId xmlns:p14="http://schemas.microsoft.com/office/powerpoint/2010/main" val="832817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A3FD25A-2FCE-4043-9002-185A707B9614}" type="slidenum">
              <a:rPr lang="en-US" smtClean="0"/>
              <a:t>1</a:t>
            </a:fld>
            <a:endParaRPr lang="en-US"/>
          </a:p>
        </p:txBody>
      </p:sp>
    </p:spTree>
    <p:extLst>
      <p:ext uri="{BB962C8B-B14F-4D97-AF65-F5344CB8AC3E}">
        <p14:creationId xmlns:p14="http://schemas.microsoft.com/office/powerpoint/2010/main" val="24390584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880" y="7183123"/>
            <a:ext cx="27980640" cy="15280640"/>
          </a:xfrm>
        </p:spPr>
        <p:txBody>
          <a:bodyPr anchor="b"/>
          <a:lstStyle>
            <a:lvl1pPr algn="ctr">
              <a:defRPr sz="21600"/>
            </a:lvl1pPr>
          </a:lstStyle>
          <a:p>
            <a:r>
              <a:rPr lang="en-US"/>
              <a:t>Click to edit Master title style</a:t>
            </a:r>
          </a:p>
        </p:txBody>
      </p:sp>
      <p:sp>
        <p:nvSpPr>
          <p:cNvPr id="3" name="Subtitle 2"/>
          <p:cNvSpPr>
            <a:spLocks noGrp="1"/>
          </p:cNvSpPr>
          <p:nvPr>
            <p:ph type="subTitle" idx="1"/>
          </p:nvPr>
        </p:nvSpPr>
        <p:spPr>
          <a:xfrm>
            <a:off x="4114800" y="23053043"/>
            <a:ext cx="24688800" cy="10596877"/>
          </a:xfrm>
        </p:spPr>
        <p:txBody>
          <a:bodyPr/>
          <a:lstStyle>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a:r>
              <a:rPr lang="en-US"/>
              <a:t>Click to edit Master subtitle style</a:t>
            </a:r>
          </a:p>
        </p:txBody>
      </p:sp>
      <p:sp>
        <p:nvSpPr>
          <p:cNvPr id="4" name="Date Placeholder 3"/>
          <p:cNvSpPr>
            <a:spLocks noGrp="1"/>
          </p:cNvSpPr>
          <p:nvPr>
            <p:ph type="dt" sz="half" idx="10"/>
          </p:nvPr>
        </p:nvSpPr>
        <p:spPr/>
        <p:txBody>
          <a:bodyPr/>
          <a:lstStyle/>
          <a:p>
            <a:fld id="{778A1ADA-AD7E-7C4D-ABB1-6945C5103F56}" type="datetimeFigureOut">
              <a:rPr lang="en-US" smtClean="0"/>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5D5E86-E73E-5949-93E6-F3D24F3B55E8}" type="slidenum">
              <a:rPr lang="en-US" smtClean="0"/>
              <a:t>‹#›</a:t>
            </a:fld>
            <a:endParaRPr lang="en-US"/>
          </a:p>
        </p:txBody>
      </p:sp>
    </p:spTree>
    <p:extLst>
      <p:ext uri="{BB962C8B-B14F-4D97-AF65-F5344CB8AC3E}">
        <p14:creationId xmlns:p14="http://schemas.microsoft.com/office/powerpoint/2010/main" val="11381898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8A1ADA-AD7E-7C4D-ABB1-6945C5103F56}" type="datetimeFigureOut">
              <a:rPr lang="en-US" smtClean="0"/>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5D5E86-E73E-5949-93E6-F3D24F3B55E8}" type="slidenum">
              <a:rPr lang="en-US" smtClean="0"/>
              <a:t>‹#›</a:t>
            </a:fld>
            <a:endParaRPr lang="en-US"/>
          </a:p>
        </p:txBody>
      </p:sp>
    </p:spTree>
    <p:extLst>
      <p:ext uri="{BB962C8B-B14F-4D97-AF65-F5344CB8AC3E}">
        <p14:creationId xmlns:p14="http://schemas.microsoft.com/office/powerpoint/2010/main" val="40735339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245997" y="10942333"/>
            <a:ext cx="28392120" cy="18257517"/>
          </a:xfrm>
        </p:spPr>
        <p:txBody>
          <a:bodyPr anchor="b"/>
          <a:lstStyle>
            <a:lvl1pPr>
              <a:defRPr sz="21600"/>
            </a:lvl1pPr>
          </a:lstStyle>
          <a:p>
            <a:r>
              <a:rPr lang="en-US"/>
              <a:t>Click to edit Master title style</a:t>
            </a:r>
          </a:p>
        </p:txBody>
      </p:sp>
      <p:sp>
        <p:nvSpPr>
          <p:cNvPr id="3" name="Text Placeholder 2"/>
          <p:cNvSpPr>
            <a:spLocks noGrp="1"/>
          </p:cNvSpPr>
          <p:nvPr>
            <p:ph type="body" idx="1"/>
          </p:nvPr>
        </p:nvSpPr>
        <p:spPr>
          <a:xfrm>
            <a:off x="2245997" y="29372573"/>
            <a:ext cx="28392120" cy="9601197"/>
          </a:xfrm>
        </p:spPr>
        <p:txBody>
          <a:bodyPr/>
          <a:lstStyle>
            <a:lvl1pPr marL="0" indent="0">
              <a:buNone/>
              <a:defRPr sz="8640">
                <a:solidFill>
                  <a:schemeClr val="tx1"/>
                </a:solidFill>
              </a:defRPr>
            </a:lvl1pPr>
            <a:lvl2pPr marL="1645920" indent="0">
              <a:buNone/>
              <a:defRPr sz="7200">
                <a:solidFill>
                  <a:schemeClr val="tx1">
                    <a:tint val="75000"/>
                  </a:schemeClr>
                </a:solidFill>
              </a:defRPr>
            </a:lvl2pPr>
            <a:lvl3pPr marL="3291840" indent="0">
              <a:buNone/>
              <a:defRPr sz="6480">
                <a:solidFill>
                  <a:schemeClr val="tx1">
                    <a:tint val="75000"/>
                  </a:schemeClr>
                </a:solidFill>
              </a:defRPr>
            </a:lvl3pPr>
            <a:lvl4pPr marL="4937760" indent="0">
              <a:buNone/>
              <a:defRPr sz="5760">
                <a:solidFill>
                  <a:schemeClr val="tx1">
                    <a:tint val="75000"/>
                  </a:schemeClr>
                </a:solidFill>
              </a:defRPr>
            </a:lvl4pPr>
            <a:lvl5pPr marL="6583680" indent="0">
              <a:buNone/>
              <a:defRPr sz="5760">
                <a:solidFill>
                  <a:schemeClr val="tx1">
                    <a:tint val="75000"/>
                  </a:schemeClr>
                </a:solidFill>
              </a:defRPr>
            </a:lvl5pPr>
            <a:lvl6pPr marL="8229600" indent="0">
              <a:buNone/>
              <a:defRPr sz="5760">
                <a:solidFill>
                  <a:schemeClr val="tx1">
                    <a:tint val="75000"/>
                  </a:schemeClr>
                </a:solidFill>
              </a:defRPr>
            </a:lvl6pPr>
            <a:lvl7pPr marL="9875520" indent="0">
              <a:buNone/>
              <a:defRPr sz="5760">
                <a:solidFill>
                  <a:schemeClr val="tx1">
                    <a:tint val="75000"/>
                  </a:schemeClr>
                </a:solidFill>
              </a:defRPr>
            </a:lvl7pPr>
            <a:lvl8pPr marL="11521440" indent="0">
              <a:buNone/>
              <a:defRPr sz="5760">
                <a:solidFill>
                  <a:schemeClr val="tx1">
                    <a:tint val="75000"/>
                  </a:schemeClr>
                </a:solidFill>
              </a:defRPr>
            </a:lvl8pPr>
            <a:lvl9pPr marL="13167360" indent="0">
              <a:buNone/>
              <a:defRPr sz="5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78A1ADA-AD7E-7C4D-ABB1-6945C5103F56}" type="datetimeFigureOut">
              <a:rPr lang="en-US" smtClean="0"/>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5D5E86-E73E-5949-93E6-F3D24F3B55E8}" type="slidenum">
              <a:rPr lang="en-US" smtClean="0"/>
              <a:t>‹#›</a:t>
            </a:fld>
            <a:endParaRPr lang="en-US"/>
          </a:p>
        </p:txBody>
      </p:sp>
    </p:spTree>
    <p:extLst>
      <p:ext uri="{BB962C8B-B14F-4D97-AF65-F5344CB8AC3E}">
        <p14:creationId xmlns:p14="http://schemas.microsoft.com/office/powerpoint/2010/main" val="2939081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631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664940" y="11684000"/>
            <a:ext cx="13990320" cy="278485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78A1ADA-AD7E-7C4D-ABB1-6945C5103F56}" type="datetimeFigureOut">
              <a:rPr lang="en-US" smtClean="0"/>
              <a:t>12/20/2024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5D5E86-E73E-5949-93E6-F3D24F3B55E8}" type="slidenum">
              <a:rPr lang="en-US" smtClean="0"/>
              <a:t>‹#›</a:t>
            </a:fld>
            <a:endParaRPr lang="en-US"/>
          </a:p>
        </p:txBody>
      </p:sp>
    </p:spTree>
    <p:extLst>
      <p:ext uri="{BB962C8B-B14F-4D97-AF65-F5344CB8AC3E}">
        <p14:creationId xmlns:p14="http://schemas.microsoft.com/office/powerpoint/2010/main" val="3291895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336810"/>
            <a:ext cx="28392120" cy="8483603"/>
          </a:xfrm>
        </p:spPr>
        <p:txBody>
          <a:bodyPr/>
          <a:lstStyle/>
          <a:p>
            <a:r>
              <a:rPr lang="en-US"/>
              <a:t>Click to edit Master title style</a:t>
            </a:r>
          </a:p>
        </p:txBody>
      </p:sp>
      <p:sp>
        <p:nvSpPr>
          <p:cNvPr id="3" name="Text Placeholder 2"/>
          <p:cNvSpPr>
            <a:spLocks noGrp="1"/>
          </p:cNvSpPr>
          <p:nvPr>
            <p:ph type="body" idx="1"/>
          </p:nvPr>
        </p:nvSpPr>
        <p:spPr>
          <a:xfrm>
            <a:off x="2267431" y="10759443"/>
            <a:ext cx="13926024"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4" name="Content Placeholder 3"/>
          <p:cNvSpPr>
            <a:spLocks noGrp="1"/>
          </p:cNvSpPr>
          <p:nvPr>
            <p:ph sz="half" idx="2"/>
          </p:nvPr>
        </p:nvSpPr>
        <p:spPr>
          <a:xfrm>
            <a:off x="2267431" y="16032480"/>
            <a:ext cx="13926024"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664942" y="10759443"/>
            <a:ext cx="13994608" cy="5273037"/>
          </a:xfrm>
        </p:spPr>
        <p:txBody>
          <a:bodyPr anchor="b"/>
          <a:lstStyle>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a:pPr lvl="0"/>
            <a:r>
              <a:rPr lang="en-US"/>
              <a:t>Click to edit Master text styles</a:t>
            </a:r>
          </a:p>
        </p:txBody>
      </p:sp>
      <p:sp>
        <p:nvSpPr>
          <p:cNvPr id="6" name="Content Placeholder 5"/>
          <p:cNvSpPr>
            <a:spLocks noGrp="1"/>
          </p:cNvSpPr>
          <p:nvPr>
            <p:ph sz="quarter" idx="4"/>
          </p:nvPr>
        </p:nvSpPr>
        <p:spPr>
          <a:xfrm>
            <a:off x="16664942" y="16032480"/>
            <a:ext cx="13994608" cy="23581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78A1ADA-AD7E-7C4D-ABB1-6945C5103F56}" type="datetimeFigureOut">
              <a:rPr lang="en-US" smtClean="0"/>
              <a:t>12/20/2024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55D5E86-E73E-5949-93E6-F3D24F3B55E8}" type="slidenum">
              <a:rPr lang="en-US" smtClean="0"/>
              <a:t>‹#›</a:t>
            </a:fld>
            <a:endParaRPr lang="en-US"/>
          </a:p>
        </p:txBody>
      </p:sp>
    </p:spTree>
    <p:extLst>
      <p:ext uri="{BB962C8B-B14F-4D97-AF65-F5344CB8AC3E}">
        <p14:creationId xmlns:p14="http://schemas.microsoft.com/office/powerpoint/2010/main" val="2618173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78A1ADA-AD7E-7C4D-ABB1-6945C5103F56}" type="datetimeFigureOut">
              <a:rPr lang="en-US" smtClean="0"/>
              <a:t>12/20/2024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55D5E86-E73E-5949-93E6-F3D24F3B55E8}" type="slidenum">
              <a:rPr lang="en-US" smtClean="0"/>
              <a:t>‹#›</a:t>
            </a:fld>
            <a:endParaRPr lang="en-US"/>
          </a:p>
        </p:txBody>
      </p:sp>
    </p:spTree>
    <p:extLst>
      <p:ext uri="{BB962C8B-B14F-4D97-AF65-F5344CB8AC3E}">
        <p14:creationId xmlns:p14="http://schemas.microsoft.com/office/powerpoint/2010/main" val="4012664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209B9AC-BEDF-B517-113B-3997229415F2}"/>
              </a:ext>
            </a:extLst>
          </p:cNvPr>
          <p:cNvSpPr/>
          <p:nvPr userDrawn="1"/>
        </p:nvSpPr>
        <p:spPr>
          <a:xfrm>
            <a:off x="0" y="0"/>
            <a:ext cx="32918400" cy="5192889"/>
          </a:xfrm>
          <a:prstGeom prst="rect">
            <a:avLst/>
          </a:prstGeom>
          <a:solidFill>
            <a:srgbClr val="990000"/>
          </a:solidFill>
          <a:ln>
            <a:noFill/>
          </a:ln>
          <a:effectLst>
            <a:outerShdw blurRad="889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456">
              <a:solidFill>
                <a:schemeClr val="bg1"/>
              </a:solidFill>
            </a:endParaRPr>
          </a:p>
        </p:txBody>
      </p:sp>
      <p:pic>
        <p:nvPicPr>
          <p:cNvPr id="6" name="Picture 5">
            <a:extLst>
              <a:ext uri="{FF2B5EF4-FFF2-40B4-BE49-F238E27FC236}">
                <a16:creationId xmlns:a16="http://schemas.microsoft.com/office/drawing/2014/main" id="{E69D5675-813A-9878-2A3F-E6A72ACAE5C2}"/>
              </a:ext>
            </a:extLst>
          </p:cNvPr>
          <p:cNvPicPr>
            <a:picLocks noChangeAspect="1"/>
          </p:cNvPicPr>
          <p:nvPr userDrawn="1"/>
        </p:nvPicPr>
        <p:blipFill rotWithShape="1">
          <a:blip r:embed="rId2"/>
          <a:srcRect t="28127"/>
          <a:stretch/>
        </p:blipFill>
        <p:spPr>
          <a:xfrm>
            <a:off x="888100" y="947405"/>
            <a:ext cx="3003031" cy="3387528"/>
          </a:xfrm>
          <a:prstGeom prst="rect">
            <a:avLst/>
          </a:prstGeom>
        </p:spPr>
      </p:pic>
      <p:sp>
        <p:nvSpPr>
          <p:cNvPr id="7" name="Rectangle 6">
            <a:extLst>
              <a:ext uri="{FF2B5EF4-FFF2-40B4-BE49-F238E27FC236}">
                <a16:creationId xmlns:a16="http://schemas.microsoft.com/office/drawing/2014/main" id="{A81336A3-BB7A-186B-998D-E0989302CF9E}"/>
              </a:ext>
            </a:extLst>
          </p:cNvPr>
          <p:cNvSpPr/>
          <p:nvPr userDrawn="1"/>
        </p:nvSpPr>
        <p:spPr>
          <a:xfrm>
            <a:off x="0" y="41272179"/>
            <a:ext cx="32918400" cy="2619022"/>
          </a:xfrm>
          <a:prstGeom prst="rect">
            <a:avLst/>
          </a:prstGeom>
          <a:solidFill>
            <a:srgbClr val="99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456">
              <a:solidFill>
                <a:schemeClr val="bg1"/>
              </a:solidFill>
            </a:endParaRPr>
          </a:p>
        </p:txBody>
      </p:sp>
      <p:pic>
        <p:nvPicPr>
          <p:cNvPr id="10" name="Picture 9" descr="A black background with white text&#10;&#10;Description automatically generated">
            <a:extLst>
              <a:ext uri="{FF2B5EF4-FFF2-40B4-BE49-F238E27FC236}">
                <a16:creationId xmlns:a16="http://schemas.microsoft.com/office/drawing/2014/main" id="{83F1AFD4-661D-FA50-C6BA-849CE86A789E}"/>
              </a:ext>
            </a:extLst>
          </p:cNvPr>
          <p:cNvPicPr>
            <a:picLocks noChangeAspect="1"/>
          </p:cNvPicPr>
          <p:nvPr userDrawn="1"/>
        </p:nvPicPr>
        <p:blipFill>
          <a:blip r:embed="rId3"/>
          <a:stretch>
            <a:fillRect/>
          </a:stretch>
        </p:blipFill>
        <p:spPr>
          <a:xfrm>
            <a:off x="342900" y="41740627"/>
            <a:ext cx="7772400" cy="1682125"/>
          </a:xfrm>
          <a:prstGeom prst="rect">
            <a:avLst/>
          </a:prstGeom>
        </p:spPr>
      </p:pic>
    </p:spTree>
    <p:extLst>
      <p:ext uri="{BB962C8B-B14F-4D97-AF65-F5344CB8AC3E}">
        <p14:creationId xmlns:p14="http://schemas.microsoft.com/office/powerpoint/2010/main" val="366503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p>
        </p:txBody>
      </p:sp>
      <p:sp>
        <p:nvSpPr>
          <p:cNvPr id="3" name="Content Placeholder 2"/>
          <p:cNvSpPr>
            <a:spLocks noGrp="1"/>
          </p:cNvSpPr>
          <p:nvPr>
            <p:ph idx="1"/>
          </p:nvPr>
        </p:nvSpPr>
        <p:spPr>
          <a:xfrm>
            <a:off x="13994608" y="6319530"/>
            <a:ext cx="16664940" cy="31191200"/>
          </a:xfrm>
        </p:spPr>
        <p:txBody>
          <a:bodyPr/>
          <a:lstStyle>
            <a:lvl1pPr>
              <a:defRPr sz="11520"/>
            </a:lvl1pPr>
            <a:lvl2pPr>
              <a:defRPr sz="10080"/>
            </a:lvl2pPr>
            <a:lvl3pPr>
              <a:defRPr sz="8640"/>
            </a:lvl3pPr>
            <a:lvl4pPr>
              <a:defRPr sz="7200"/>
            </a:lvl4pPr>
            <a:lvl5pPr>
              <a:defRPr sz="7200"/>
            </a:lvl5pPr>
            <a:lvl6pPr>
              <a:defRPr sz="7200"/>
            </a:lvl6pPr>
            <a:lvl7pPr>
              <a:defRPr sz="7200"/>
            </a:lvl7pPr>
            <a:lvl8pPr>
              <a:defRPr sz="7200"/>
            </a:lvl8pPr>
            <a:lvl9pPr>
              <a:defRPr sz="7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778A1ADA-AD7E-7C4D-ABB1-6945C5103F56}" type="datetimeFigureOut">
              <a:rPr lang="en-US" smtClean="0"/>
              <a:t>12/20/2024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5D5E86-E73E-5949-93E6-F3D24F3B55E8}" type="slidenum">
              <a:rPr lang="en-US" smtClean="0"/>
              <a:t>‹#›</a:t>
            </a:fld>
            <a:endParaRPr lang="en-US"/>
          </a:p>
        </p:txBody>
      </p:sp>
    </p:spTree>
    <p:extLst>
      <p:ext uri="{BB962C8B-B14F-4D97-AF65-F5344CB8AC3E}">
        <p14:creationId xmlns:p14="http://schemas.microsoft.com/office/powerpoint/2010/main" val="12587310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67428" y="2926080"/>
            <a:ext cx="10617041" cy="10241280"/>
          </a:xfrm>
        </p:spPr>
        <p:txBody>
          <a:bodyPr anchor="b"/>
          <a:lstStyle>
            <a:lvl1pPr>
              <a:defRPr sz="11520"/>
            </a:lvl1pPr>
          </a:lstStyle>
          <a:p>
            <a:r>
              <a:rPr lang="en-US"/>
              <a:t>Click to edit Master title style</a:t>
            </a:r>
          </a:p>
        </p:txBody>
      </p:sp>
      <p:sp>
        <p:nvSpPr>
          <p:cNvPr id="3" name="Picture Placeholder 2"/>
          <p:cNvSpPr>
            <a:spLocks noGrp="1" noChangeAspect="1"/>
          </p:cNvSpPr>
          <p:nvPr>
            <p:ph type="pic" idx="1"/>
          </p:nvPr>
        </p:nvSpPr>
        <p:spPr>
          <a:xfrm>
            <a:off x="13994608" y="6319530"/>
            <a:ext cx="16664940" cy="31191200"/>
          </a:xfrm>
        </p:spPr>
        <p:txBody>
          <a:bodyPr anchor="t"/>
          <a:lstStyle>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a:r>
              <a:rPr lang="en-US"/>
              <a:t>Click icon to add picture</a:t>
            </a:r>
          </a:p>
        </p:txBody>
      </p:sp>
      <p:sp>
        <p:nvSpPr>
          <p:cNvPr id="4" name="Text Placeholder 3"/>
          <p:cNvSpPr>
            <a:spLocks noGrp="1"/>
          </p:cNvSpPr>
          <p:nvPr>
            <p:ph type="body" sz="half" idx="2"/>
          </p:nvPr>
        </p:nvSpPr>
        <p:spPr>
          <a:xfrm>
            <a:off x="2267428" y="13167360"/>
            <a:ext cx="10617041" cy="24394163"/>
          </a:xfrm>
        </p:spPr>
        <p:txBody>
          <a:bodyPr/>
          <a:lstStyle>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a:pPr lvl="0"/>
            <a:r>
              <a:rPr lang="en-US"/>
              <a:t>Click to edit Master text styles</a:t>
            </a:r>
          </a:p>
        </p:txBody>
      </p:sp>
      <p:sp>
        <p:nvSpPr>
          <p:cNvPr id="5" name="Date Placeholder 4"/>
          <p:cNvSpPr>
            <a:spLocks noGrp="1"/>
          </p:cNvSpPr>
          <p:nvPr>
            <p:ph type="dt" sz="half" idx="10"/>
          </p:nvPr>
        </p:nvSpPr>
        <p:spPr/>
        <p:txBody>
          <a:bodyPr/>
          <a:lstStyle/>
          <a:p>
            <a:fld id="{778A1ADA-AD7E-7C4D-ABB1-6945C5103F56}" type="datetimeFigureOut">
              <a:rPr lang="en-US" smtClean="0"/>
              <a:t>12/20/2024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55D5E86-E73E-5949-93E6-F3D24F3B55E8}" type="slidenum">
              <a:rPr lang="en-US" smtClean="0"/>
              <a:t>‹#›</a:t>
            </a:fld>
            <a:endParaRPr lang="en-US"/>
          </a:p>
        </p:txBody>
      </p:sp>
    </p:spTree>
    <p:extLst>
      <p:ext uri="{BB962C8B-B14F-4D97-AF65-F5344CB8AC3E}">
        <p14:creationId xmlns:p14="http://schemas.microsoft.com/office/powerpoint/2010/main" val="169437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8A1ADA-AD7E-7C4D-ABB1-6945C5103F56}" type="datetimeFigureOut">
              <a:rPr lang="en-US" smtClean="0"/>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5D5E86-E73E-5949-93E6-F3D24F3B55E8}" type="slidenum">
              <a:rPr lang="en-US" smtClean="0"/>
              <a:t>‹#›</a:t>
            </a:fld>
            <a:endParaRPr lang="en-US"/>
          </a:p>
        </p:txBody>
      </p:sp>
    </p:spTree>
    <p:extLst>
      <p:ext uri="{BB962C8B-B14F-4D97-AF65-F5344CB8AC3E}">
        <p14:creationId xmlns:p14="http://schemas.microsoft.com/office/powerpoint/2010/main" val="445833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557232" y="2336800"/>
            <a:ext cx="7098030" cy="37195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63142" y="2336800"/>
            <a:ext cx="20882610" cy="37195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78A1ADA-AD7E-7C4D-ABB1-6945C5103F56}" type="datetimeFigureOut">
              <a:rPr lang="en-US" smtClean="0"/>
              <a:t>12/20/2024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55D5E86-E73E-5949-93E6-F3D24F3B55E8}" type="slidenum">
              <a:rPr lang="en-US" smtClean="0"/>
              <a:t>‹#›</a:t>
            </a:fld>
            <a:endParaRPr lang="en-US"/>
          </a:p>
        </p:txBody>
      </p:sp>
    </p:spTree>
    <p:extLst>
      <p:ext uri="{BB962C8B-B14F-4D97-AF65-F5344CB8AC3E}">
        <p14:creationId xmlns:p14="http://schemas.microsoft.com/office/powerpoint/2010/main" val="3125482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63140" y="2336810"/>
            <a:ext cx="28392120" cy="848360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263140" y="11684000"/>
            <a:ext cx="28392120" cy="278485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263140" y="40680650"/>
            <a:ext cx="7406640" cy="2336800"/>
          </a:xfrm>
          <a:prstGeom prst="rect">
            <a:avLst/>
          </a:prstGeom>
        </p:spPr>
        <p:txBody>
          <a:bodyPr vert="horz" lIns="91440" tIns="45720" rIns="91440" bIns="45720" rtlCol="0" anchor="ctr"/>
          <a:lstStyle>
            <a:lvl1pPr algn="l">
              <a:defRPr sz="4320">
                <a:solidFill>
                  <a:schemeClr val="tx1">
                    <a:tint val="75000"/>
                  </a:schemeClr>
                </a:solidFill>
              </a:defRPr>
            </a:lvl1pPr>
          </a:lstStyle>
          <a:p>
            <a:fld id="{778A1ADA-AD7E-7C4D-ABB1-6945C5103F56}" type="datetimeFigureOut">
              <a:rPr lang="en-US" smtClean="0"/>
              <a:t>12/20/2024</a:t>
            </a:fld>
            <a:endParaRPr lang="en-US"/>
          </a:p>
        </p:txBody>
      </p:sp>
      <p:sp>
        <p:nvSpPr>
          <p:cNvPr id="5" name="Footer Placeholder 4"/>
          <p:cNvSpPr>
            <a:spLocks noGrp="1"/>
          </p:cNvSpPr>
          <p:nvPr>
            <p:ph type="ftr" sz="quarter" idx="3"/>
          </p:nvPr>
        </p:nvSpPr>
        <p:spPr>
          <a:xfrm>
            <a:off x="10904220" y="40680650"/>
            <a:ext cx="11109960" cy="23368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3248620" y="40680650"/>
            <a:ext cx="7406640" cy="2336800"/>
          </a:xfrm>
          <a:prstGeom prst="rect">
            <a:avLst/>
          </a:prstGeom>
        </p:spPr>
        <p:txBody>
          <a:bodyPr vert="horz" lIns="91440" tIns="45720" rIns="91440" bIns="45720" rtlCol="0" anchor="ctr"/>
          <a:lstStyle>
            <a:lvl1pPr algn="r">
              <a:defRPr sz="4320">
                <a:solidFill>
                  <a:schemeClr val="tx1">
                    <a:tint val="75000"/>
                  </a:schemeClr>
                </a:solidFill>
              </a:defRPr>
            </a:lvl1pPr>
          </a:lstStyle>
          <a:p>
            <a:fld id="{455D5E86-E73E-5949-93E6-F3D24F3B55E8}" type="slidenum">
              <a:rPr lang="en-US" smtClean="0"/>
              <a:t>‹#›</a:t>
            </a:fld>
            <a:endParaRPr lang="en-US"/>
          </a:p>
        </p:txBody>
      </p:sp>
    </p:spTree>
    <p:extLst>
      <p:ext uri="{BB962C8B-B14F-4D97-AF65-F5344CB8AC3E}">
        <p14:creationId xmlns:p14="http://schemas.microsoft.com/office/powerpoint/2010/main" val="2239666862"/>
      </p:ext>
    </p:extLst>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46" name="Straight Arrow Connector 45">
            <a:extLst>
              <a:ext uri="{FF2B5EF4-FFF2-40B4-BE49-F238E27FC236}">
                <a16:creationId xmlns:a16="http://schemas.microsoft.com/office/drawing/2014/main" id="{40AB8CAB-8269-CF0A-16AA-8E7A1EA5D50D}"/>
              </a:ext>
            </a:extLst>
          </p:cNvPr>
          <p:cNvCxnSpPr>
            <a:cxnSpLocks/>
          </p:cNvCxnSpPr>
          <p:nvPr/>
        </p:nvCxnSpPr>
        <p:spPr>
          <a:xfrm>
            <a:off x="20123033" y="26090165"/>
            <a:ext cx="0" cy="11497027"/>
          </a:xfrm>
          <a:prstGeom prst="straightConnector1">
            <a:avLst/>
          </a:prstGeom>
          <a:ln w="38100"/>
        </p:spPr>
        <p:style>
          <a:lnRef idx="3">
            <a:schemeClr val="dk1"/>
          </a:lnRef>
          <a:fillRef idx="0">
            <a:schemeClr val="dk1"/>
          </a:fillRef>
          <a:effectRef idx="2">
            <a:schemeClr val="dk1"/>
          </a:effectRef>
          <a:fontRef idx="minor">
            <a:schemeClr val="tx1"/>
          </a:fontRef>
        </p:style>
      </p:cxnSp>
      <p:sp>
        <p:nvSpPr>
          <p:cNvPr id="8" name="Title Placeholder 1">
            <a:extLst>
              <a:ext uri="{FF2B5EF4-FFF2-40B4-BE49-F238E27FC236}">
                <a16:creationId xmlns:a16="http://schemas.microsoft.com/office/drawing/2014/main" id="{F432AE4C-3EBE-D84D-954B-FE4C5765B7F2}"/>
              </a:ext>
            </a:extLst>
          </p:cNvPr>
          <p:cNvSpPr txBox="1">
            <a:spLocks/>
          </p:cNvSpPr>
          <p:nvPr/>
        </p:nvSpPr>
        <p:spPr>
          <a:xfrm>
            <a:off x="12720613" y="354959"/>
            <a:ext cx="19716676" cy="4241801"/>
          </a:xfrm>
          <a:prstGeom prst="rect">
            <a:avLst/>
          </a:prstGeom>
        </p:spPr>
        <p:txBody>
          <a:bodyPr vert="horz" lIns="60960" tIns="30480" rIns="60960" bIns="30480" rtlCol="0" anchor="ctr">
            <a:noAutofit/>
          </a:bodyPr>
          <a:lstStyle>
            <a:lvl1pPr algn="ctr" defTabSz="4389120" rtl="0" eaLnBrk="1" latinLnBrk="0" hangingPunct="1">
              <a:lnSpc>
                <a:spcPct val="90000"/>
              </a:lnSpc>
              <a:spcBef>
                <a:spcPct val="0"/>
              </a:spcBef>
              <a:buNone/>
              <a:defRPr sz="15000" kern="1200">
                <a:solidFill>
                  <a:schemeClr val="tx1"/>
                </a:solidFill>
                <a:latin typeface="Arial" panose="020B0604020202020204" pitchFamily="34" charset="0"/>
                <a:ea typeface="+mj-ea"/>
                <a:cs typeface="Arial" panose="020B0604020202020204" pitchFamily="34" charset="0"/>
              </a:defRPr>
            </a:lvl1pPr>
          </a:lstStyle>
          <a:p>
            <a:pPr>
              <a:lnSpc>
                <a:spcPct val="100000"/>
              </a:lnSpc>
            </a:pPr>
            <a:r>
              <a:rPr lang="en-US" sz="7000" b="1">
                <a:solidFill>
                  <a:schemeClr val="bg1"/>
                </a:solidFill>
                <a:effectLst/>
                <a:latin typeface="Georgia Pro" panose="02040502050405020303" pitchFamily="18" charset="0"/>
                <a:cs typeface="Arial"/>
              </a:rPr>
              <a:t>Single-Event Transient Data Classification Using Traditional Statistical Approach and Machine Learning</a:t>
            </a:r>
          </a:p>
          <a:p>
            <a:r>
              <a:rPr lang="en-US" sz="4000" i="1">
                <a:solidFill>
                  <a:schemeClr val="bg1"/>
                </a:solidFill>
                <a:latin typeface="Georgia Pro" panose="02040502050405020303" pitchFamily="18" charset="0"/>
                <a:cs typeface="Arial"/>
              </a:rPr>
              <a:t>Samuel Teye, and Samantha Woodward</a:t>
            </a:r>
          </a:p>
          <a:p>
            <a:pPr defTabSz="4703763">
              <a:defRPr/>
            </a:pPr>
            <a:r>
              <a:rPr lang="en-US" sz="4000" i="1">
                <a:solidFill>
                  <a:schemeClr val="bg1"/>
                </a:solidFill>
                <a:latin typeface="Georgia Pro" panose="02040502050405020303" pitchFamily="18" charset="0"/>
                <a:cs typeface="Arial"/>
              </a:rPr>
              <a:t>Indiana University - Bloomington</a:t>
            </a:r>
          </a:p>
        </p:txBody>
      </p:sp>
      <p:sp>
        <p:nvSpPr>
          <p:cNvPr id="25" name="Text Box 158">
            <a:extLst>
              <a:ext uri="{FF2B5EF4-FFF2-40B4-BE49-F238E27FC236}">
                <a16:creationId xmlns:a16="http://schemas.microsoft.com/office/drawing/2014/main" id="{E16D546D-CA6D-4542-B6B6-EE385DECB8F9}"/>
              </a:ext>
            </a:extLst>
          </p:cNvPr>
          <p:cNvSpPr txBox="1">
            <a:spLocks noChangeArrowheads="1"/>
          </p:cNvSpPr>
          <p:nvPr/>
        </p:nvSpPr>
        <p:spPr bwMode="auto">
          <a:xfrm>
            <a:off x="11887200" y="5573591"/>
            <a:ext cx="9144000" cy="954107"/>
          </a:xfrm>
          <a:prstGeom prst="rect">
            <a:avLst/>
          </a:prstGeom>
          <a:solidFill>
            <a:srgbClr val="990000"/>
          </a:solidFill>
          <a:ln>
            <a:solidFill>
              <a:srgbClr val="C00000"/>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182880" tIns="182880" rIns="182880" bIns="182880" anchor="t">
            <a:spAutoFit/>
          </a:bodyPr>
          <a:lstStyle/>
          <a:p>
            <a:pPr algn="ctr">
              <a:defRPr/>
            </a:pPr>
            <a:r>
              <a:rPr lang="en-US" sz="3800" b="1">
                <a:solidFill>
                  <a:schemeClr val="bg1"/>
                </a:solidFill>
                <a:latin typeface="Georgia Pro"/>
                <a:cs typeface="Arial"/>
              </a:rPr>
              <a:t>Abstract</a:t>
            </a:r>
            <a:endParaRPr lang="en-US" sz="3800">
              <a:solidFill>
                <a:schemeClr val="bg1"/>
              </a:solidFill>
              <a:latin typeface="Georgia Pro"/>
              <a:cs typeface="Arial"/>
            </a:endParaRPr>
          </a:p>
        </p:txBody>
      </p:sp>
      <p:sp>
        <p:nvSpPr>
          <p:cNvPr id="12" name="TextBox 11">
            <a:extLst>
              <a:ext uri="{FF2B5EF4-FFF2-40B4-BE49-F238E27FC236}">
                <a16:creationId xmlns:a16="http://schemas.microsoft.com/office/drawing/2014/main" id="{0F27D4A6-FDAF-F2EC-4A76-0F98352A719B}"/>
              </a:ext>
            </a:extLst>
          </p:cNvPr>
          <p:cNvSpPr txBox="1"/>
          <p:nvPr/>
        </p:nvSpPr>
        <p:spPr>
          <a:xfrm>
            <a:off x="711108" y="6750257"/>
            <a:ext cx="31546800" cy="3970318"/>
          </a:xfrm>
          <a:prstGeom prst="rect">
            <a:avLst/>
          </a:prstGeom>
          <a:noFill/>
        </p:spPr>
        <p:txBody>
          <a:bodyPr wrap="square" lIns="91440" tIns="45720" rIns="91440" bIns="45720" rtlCol="0" anchor="t">
            <a:spAutoFit/>
          </a:bodyPr>
          <a:lstStyle/>
          <a:p>
            <a:pPr algn="just"/>
            <a:r>
              <a:rPr lang="en-US" sz="3600">
                <a:latin typeface="Georgia Pro"/>
                <a:cs typeface="Times New Roman"/>
              </a:rPr>
              <a:t>This study investigates the classification of an experimental dataset of Single Event Transients (SETs) using a combination of traditional statistical techniques and machine learning (ML) methodologies. These methodologies possess computational efficiency, interpretability, and adaptability making them essential for initial SET classification. Statistical techniques, such as thresholding based on the mode and standard deviation, are compared with  ML algorithms such as </a:t>
            </a:r>
            <a:r>
              <a:rPr lang="en-US" sz="3600" i="1">
                <a:latin typeface="Georgia Pro"/>
                <a:cs typeface="Times New Roman"/>
              </a:rPr>
              <a:t>k</a:t>
            </a:r>
            <a:r>
              <a:rPr lang="en-US" sz="3600">
                <a:latin typeface="Georgia Pro"/>
                <a:cs typeface="Times New Roman"/>
              </a:rPr>
              <a:t>-nearest neighbor (KNN) and </a:t>
            </a:r>
            <a:r>
              <a:rPr lang="en-US" sz="3600" i="1">
                <a:latin typeface="Georgia Pro"/>
                <a:cs typeface="Times New Roman"/>
              </a:rPr>
              <a:t>k</a:t>
            </a:r>
            <a:r>
              <a:rPr lang="en-US" sz="3600">
                <a:latin typeface="Georgia Pro"/>
                <a:cs typeface="Times New Roman"/>
              </a:rPr>
              <a:t>-means clusters to identify and classify SETs. The methodologies are validated using an experimental dataset generated during radiation testing, utilizing an ion-induced SET in an Operational Amplifier (Op-Amp) with Quasi-Bessel Beam (QBB) Pulsed-Laser (PL). These approaches demonstrate their ability to handle noisy and complex SET data, paving the way for advancements in radiation effects research and electronic system resilience. </a:t>
            </a:r>
          </a:p>
        </p:txBody>
      </p:sp>
      <p:sp>
        <p:nvSpPr>
          <p:cNvPr id="15" name="Text Box 158">
            <a:extLst>
              <a:ext uri="{FF2B5EF4-FFF2-40B4-BE49-F238E27FC236}">
                <a16:creationId xmlns:a16="http://schemas.microsoft.com/office/drawing/2014/main" id="{36799703-B658-ED47-84D4-3F5A7F731DD5}"/>
              </a:ext>
            </a:extLst>
          </p:cNvPr>
          <p:cNvSpPr txBox="1">
            <a:spLocks noChangeArrowheads="1"/>
          </p:cNvSpPr>
          <p:nvPr/>
        </p:nvSpPr>
        <p:spPr bwMode="auto">
          <a:xfrm>
            <a:off x="843003" y="10836033"/>
            <a:ext cx="10631784" cy="954107"/>
          </a:xfrm>
          <a:prstGeom prst="rect">
            <a:avLst/>
          </a:prstGeom>
          <a:solidFill>
            <a:srgbClr val="990000"/>
          </a:solidFill>
          <a:ln>
            <a:solidFill>
              <a:srgbClr val="C00000"/>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182880" tIns="182880" rIns="182880" bIns="182880" anchor="t">
            <a:spAutoFit/>
          </a:bodyPr>
          <a:lstStyle/>
          <a:p>
            <a:pPr algn="ctr">
              <a:defRPr/>
            </a:pPr>
            <a:r>
              <a:rPr lang="en-US" sz="3800" b="1">
                <a:solidFill>
                  <a:schemeClr val="bg1"/>
                </a:solidFill>
                <a:latin typeface="Georgia Pro"/>
                <a:cs typeface="Arial"/>
              </a:rPr>
              <a:t>Motivation</a:t>
            </a:r>
            <a:endParaRPr lang="en-US" sz="3800">
              <a:solidFill>
                <a:schemeClr val="bg1"/>
              </a:solidFill>
              <a:latin typeface="Georgia Pro"/>
              <a:cs typeface="Arial"/>
            </a:endParaRPr>
          </a:p>
        </p:txBody>
      </p:sp>
      <p:sp>
        <p:nvSpPr>
          <p:cNvPr id="16" name="TextBox 15">
            <a:extLst>
              <a:ext uri="{FF2B5EF4-FFF2-40B4-BE49-F238E27FC236}">
                <a16:creationId xmlns:a16="http://schemas.microsoft.com/office/drawing/2014/main" id="{3AFCAB39-4FF0-38BD-5860-56BF572E2D48}"/>
              </a:ext>
            </a:extLst>
          </p:cNvPr>
          <p:cNvSpPr txBox="1"/>
          <p:nvPr/>
        </p:nvSpPr>
        <p:spPr>
          <a:xfrm>
            <a:off x="836436" y="11955290"/>
            <a:ext cx="10312827" cy="5632311"/>
          </a:xfrm>
          <a:prstGeom prst="rect">
            <a:avLst/>
          </a:prstGeom>
          <a:noFill/>
        </p:spPr>
        <p:txBody>
          <a:bodyPr wrap="square" lIns="91440" tIns="45720" rIns="91440" bIns="45720" rtlCol="0" anchor="t">
            <a:spAutoFit/>
          </a:bodyPr>
          <a:lstStyle/>
          <a:p>
            <a:pPr marL="457200" indent="-457200" algn="just">
              <a:buFont typeface="Arial" panose="020B0604020202020204" pitchFamily="34" charset="0"/>
              <a:buChar char="•"/>
            </a:pPr>
            <a:r>
              <a:rPr lang="en-US" sz="3600" b="1">
                <a:latin typeface="Georgia Pro"/>
                <a:cs typeface="Times New Roman"/>
              </a:rPr>
              <a:t>Importance</a:t>
            </a:r>
            <a:r>
              <a:rPr lang="en-US" sz="3600">
                <a:latin typeface="Georgia Pro"/>
                <a:cs typeface="Times New Roman"/>
              </a:rPr>
              <a:t>: SETs, caused by radiation, can disrupt electronic systems and lead to failures</a:t>
            </a:r>
          </a:p>
          <a:p>
            <a:pPr marL="457200" indent="-457200" algn="just">
              <a:buFont typeface="Arial" panose="020B0604020202020204" pitchFamily="34" charset="0"/>
              <a:buChar char="•"/>
            </a:pPr>
            <a:r>
              <a:rPr lang="en-US" sz="3600" b="1">
                <a:latin typeface="Georgia Pro"/>
                <a:ea typeface="Calibri"/>
                <a:cs typeface="Times New Roman"/>
              </a:rPr>
              <a:t>System Reliability: </a:t>
            </a:r>
            <a:r>
              <a:rPr lang="en-US" sz="3600">
                <a:latin typeface="Georgia Pro"/>
                <a:ea typeface="Calibri"/>
                <a:cs typeface="Times New Roman"/>
              </a:rPr>
              <a:t>Accurate classification of signals is crucial to ensure reliable hardware performance when testing</a:t>
            </a:r>
          </a:p>
          <a:p>
            <a:pPr marL="457200" indent="-457200" algn="just">
              <a:buFont typeface="Arial" panose="020B0604020202020204" pitchFamily="34" charset="0"/>
              <a:buChar char="•"/>
            </a:pPr>
            <a:r>
              <a:rPr lang="en-US" sz="3600" b="1">
                <a:latin typeface="Georgia Pro"/>
                <a:cs typeface="Times New Roman"/>
              </a:rPr>
              <a:t>Traditional Limitations: </a:t>
            </a:r>
            <a:r>
              <a:rPr lang="en-US" sz="3600">
                <a:latin typeface="Georgia Pro"/>
                <a:cs typeface="Times New Roman"/>
              </a:rPr>
              <a:t>Near the Signal edges, the statistical methods are not reliable and require advanced computation and analysis</a:t>
            </a:r>
            <a:endParaRPr lang="en-US" sz="3600">
              <a:latin typeface="Georgia Pro"/>
              <a:ea typeface="Calibri"/>
              <a:cs typeface="Times New Roman"/>
            </a:endParaRPr>
          </a:p>
          <a:p>
            <a:pPr marL="457200" indent="-457200" algn="just">
              <a:buFont typeface="Arial" panose="020B0604020202020204" pitchFamily="34" charset="0"/>
              <a:buChar char="•"/>
            </a:pPr>
            <a:r>
              <a:rPr lang="en-US" sz="3600" b="1">
                <a:latin typeface="Georgia Pro"/>
                <a:cs typeface="Times New Roman"/>
              </a:rPr>
              <a:t>Advancements</a:t>
            </a:r>
            <a:r>
              <a:rPr lang="en-US" sz="3600">
                <a:latin typeface="Georgia Pro"/>
                <a:cs typeface="Times New Roman"/>
              </a:rPr>
              <a:t>: KNN machine learning model can improve classification accuracy</a:t>
            </a:r>
          </a:p>
        </p:txBody>
      </p:sp>
      <p:sp>
        <p:nvSpPr>
          <p:cNvPr id="45" name="Text Box 158">
            <a:extLst>
              <a:ext uri="{FF2B5EF4-FFF2-40B4-BE49-F238E27FC236}">
                <a16:creationId xmlns:a16="http://schemas.microsoft.com/office/drawing/2014/main" id="{1CDC16D9-5237-6166-6EBC-327B780ED5C7}"/>
              </a:ext>
            </a:extLst>
          </p:cNvPr>
          <p:cNvSpPr txBox="1">
            <a:spLocks noChangeArrowheads="1"/>
          </p:cNvSpPr>
          <p:nvPr/>
        </p:nvSpPr>
        <p:spPr bwMode="auto">
          <a:xfrm>
            <a:off x="944584" y="25281766"/>
            <a:ext cx="31492706" cy="831316"/>
          </a:xfrm>
          <a:prstGeom prst="rect">
            <a:avLst/>
          </a:prstGeom>
          <a:solidFill>
            <a:srgbClr val="990000"/>
          </a:solidFill>
          <a:ln>
            <a:solidFill>
              <a:srgbClr val="C00000"/>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182880" tIns="182880" rIns="182880" bIns="182880" anchor="t">
            <a:spAutoFit/>
          </a:bodyPr>
          <a:lstStyle/>
          <a:p>
            <a:pPr algn="ctr">
              <a:defRPr/>
            </a:pPr>
            <a:endParaRPr lang="en-US" sz="3600" b="1">
              <a:solidFill>
                <a:schemeClr val="bg1"/>
              </a:solidFill>
              <a:latin typeface="Arial" panose="020B0604020202020204" pitchFamily="34" charset="0"/>
              <a:cs typeface="Arial" panose="020B0604020202020204" pitchFamily="34" charset="0"/>
            </a:endParaRPr>
          </a:p>
        </p:txBody>
      </p:sp>
      <p:sp>
        <p:nvSpPr>
          <p:cNvPr id="56" name="Text Box 158">
            <a:extLst>
              <a:ext uri="{FF2B5EF4-FFF2-40B4-BE49-F238E27FC236}">
                <a16:creationId xmlns:a16="http://schemas.microsoft.com/office/drawing/2014/main" id="{7546AF6E-3103-3E7D-B213-031A312AC123}"/>
              </a:ext>
            </a:extLst>
          </p:cNvPr>
          <p:cNvSpPr txBox="1">
            <a:spLocks noChangeArrowheads="1"/>
          </p:cNvSpPr>
          <p:nvPr/>
        </p:nvSpPr>
        <p:spPr bwMode="auto">
          <a:xfrm>
            <a:off x="12026276" y="10836033"/>
            <a:ext cx="20411013" cy="954107"/>
          </a:xfrm>
          <a:prstGeom prst="rect">
            <a:avLst/>
          </a:prstGeom>
          <a:solidFill>
            <a:srgbClr val="990000"/>
          </a:solidFill>
          <a:ln>
            <a:solidFill>
              <a:srgbClr val="C00000"/>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182880" tIns="182880" rIns="182880" bIns="182880" anchor="t">
            <a:spAutoFit/>
          </a:bodyPr>
          <a:lstStyle/>
          <a:p>
            <a:pPr algn="ctr">
              <a:defRPr/>
            </a:pPr>
            <a:r>
              <a:rPr lang="en-US" sz="3800" b="1">
                <a:solidFill>
                  <a:schemeClr val="bg1"/>
                </a:solidFill>
                <a:latin typeface="Georgia Pro"/>
                <a:cs typeface="Arial"/>
              </a:rPr>
              <a:t>Project Description</a:t>
            </a:r>
          </a:p>
        </p:txBody>
      </p:sp>
      <p:sp>
        <p:nvSpPr>
          <p:cNvPr id="11" name="Text Box 158">
            <a:extLst>
              <a:ext uri="{FF2B5EF4-FFF2-40B4-BE49-F238E27FC236}">
                <a16:creationId xmlns:a16="http://schemas.microsoft.com/office/drawing/2014/main" id="{A0DDA083-2647-70BE-C099-995013BBF88F}"/>
              </a:ext>
            </a:extLst>
          </p:cNvPr>
          <p:cNvSpPr txBox="1">
            <a:spLocks noChangeArrowheads="1"/>
          </p:cNvSpPr>
          <p:nvPr/>
        </p:nvSpPr>
        <p:spPr bwMode="auto">
          <a:xfrm>
            <a:off x="843003" y="17777089"/>
            <a:ext cx="10631784" cy="954107"/>
          </a:xfrm>
          <a:prstGeom prst="rect">
            <a:avLst/>
          </a:prstGeom>
          <a:solidFill>
            <a:srgbClr val="990000"/>
          </a:solidFill>
          <a:ln>
            <a:solidFill>
              <a:srgbClr val="C00000"/>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182880" tIns="182880" rIns="182880" bIns="182880" anchor="t">
            <a:spAutoFit/>
          </a:bodyPr>
          <a:lstStyle/>
          <a:p>
            <a:pPr algn="ctr">
              <a:defRPr/>
            </a:pPr>
            <a:r>
              <a:rPr lang="en-US" sz="3800" b="1">
                <a:solidFill>
                  <a:schemeClr val="bg1"/>
                </a:solidFill>
                <a:latin typeface="Georgia Pro"/>
                <a:cs typeface="Arial"/>
              </a:rPr>
              <a:t>Methodology</a:t>
            </a:r>
            <a:r>
              <a:rPr lang="en-US" sz="3600" b="1">
                <a:solidFill>
                  <a:schemeClr val="bg1"/>
                </a:solidFill>
                <a:latin typeface="Georgia Pro"/>
                <a:cs typeface="Arial"/>
              </a:rPr>
              <a:t> </a:t>
            </a:r>
            <a:endParaRPr lang="en-US" sz="3600" b="1">
              <a:solidFill>
                <a:schemeClr val="bg1"/>
              </a:solidFill>
              <a:latin typeface="Georgia Pro"/>
              <a:cs typeface="Arial" panose="020B0604020202020204" pitchFamily="34" charset="0"/>
            </a:endParaRPr>
          </a:p>
        </p:txBody>
      </p:sp>
      <p:sp>
        <p:nvSpPr>
          <p:cNvPr id="19" name="Text Box 158">
            <a:extLst>
              <a:ext uri="{FF2B5EF4-FFF2-40B4-BE49-F238E27FC236}">
                <a16:creationId xmlns:a16="http://schemas.microsoft.com/office/drawing/2014/main" id="{A059631D-3F00-1F94-CE20-D29F334CEB72}"/>
              </a:ext>
            </a:extLst>
          </p:cNvPr>
          <p:cNvSpPr txBox="1">
            <a:spLocks noChangeArrowheads="1"/>
          </p:cNvSpPr>
          <p:nvPr/>
        </p:nvSpPr>
        <p:spPr bwMode="auto">
          <a:xfrm>
            <a:off x="432757" y="37770478"/>
            <a:ext cx="31909109" cy="954107"/>
          </a:xfrm>
          <a:prstGeom prst="rect">
            <a:avLst/>
          </a:prstGeom>
          <a:solidFill>
            <a:srgbClr val="990000"/>
          </a:solidFill>
          <a:ln>
            <a:solidFill>
              <a:srgbClr val="C00000"/>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182880" tIns="182880" rIns="182880" bIns="182880" anchor="t">
            <a:spAutoFit/>
          </a:bodyPr>
          <a:lstStyle/>
          <a:p>
            <a:pPr algn="ctr">
              <a:defRPr/>
            </a:pPr>
            <a:r>
              <a:rPr lang="en-US" sz="3800" b="1">
                <a:solidFill>
                  <a:schemeClr val="bg1"/>
                </a:solidFill>
                <a:latin typeface="Georgia Pro" panose="02040502050405020303" pitchFamily="18" charset="0"/>
                <a:cs typeface="Arial"/>
              </a:rPr>
              <a:t>Conclusion</a:t>
            </a:r>
          </a:p>
        </p:txBody>
      </p:sp>
      <p:sp>
        <p:nvSpPr>
          <p:cNvPr id="23" name="TextBox 22">
            <a:extLst>
              <a:ext uri="{FF2B5EF4-FFF2-40B4-BE49-F238E27FC236}">
                <a16:creationId xmlns:a16="http://schemas.microsoft.com/office/drawing/2014/main" id="{39D1715B-2628-63C8-49BA-ADDD175FA913}"/>
              </a:ext>
            </a:extLst>
          </p:cNvPr>
          <p:cNvSpPr txBox="1"/>
          <p:nvPr/>
        </p:nvSpPr>
        <p:spPr>
          <a:xfrm>
            <a:off x="713355" y="18667399"/>
            <a:ext cx="11289317" cy="6694140"/>
          </a:xfrm>
          <a:prstGeom prst="rect">
            <a:avLst/>
          </a:prstGeom>
          <a:noFill/>
        </p:spPr>
        <p:txBody>
          <a:bodyPr wrap="square" lIns="91440" tIns="45720" rIns="91440" bIns="45720" rtlCol="0" anchor="t">
            <a:spAutoFit/>
          </a:bodyPr>
          <a:lstStyle/>
          <a:p>
            <a:r>
              <a:rPr lang="en-US" sz="3300" b="1">
                <a:latin typeface="Georgia Pro"/>
                <a:ea typeface="Calibri"/>
                <a:cs typeface="Calibri"/>
              </a:rPr>
              <a:t>	Statistical thresholding Approach</a:t>
            </a:r>
          </a:p>
          <a:p>
            <a:pPr marL="1028700" lvl="1" indent="-571500">
              <a:buAutoNum type="arabicPeriod"/>
            </a:pPr>
            <a:r>
              <a:rPr lang="en-US" sz="3300">
                <a:latin typeface="Georgia Pro"/>
                <a:ea typeface="Calibri"/>
                <a:cs typeface="Calibri"/>
              </a:rPr>
              <a:t>Determine the mode for entire dataset</a:t>
            </a:r>
            <a:endParaRPr lang="en-US" sz="3300" b="1">
              <a:latin typeface="Georgia Pro"/>
              <a:ea typeface="Calibri"/>
              <a:cs typeface="Calibri"/>
            </a:endParaRPr>
          </a:p>
          <a:p>
            <a:pPr marL="1028700" lvl="1" indent="-571500">
              <a:buAutoNum type="arabicPeriod"/>
            </a:pPr>
            <a:r>
              <a:rPr lang="en-US" sz="3300">
                <a:latin typeface="Georgia Pro"/>
                <a:ea typeface="Calibri"/>
                <a:cs typeface="Calibri"/>
              </a:rPr>
              <a:t>Determine the standard deviation on each run</a:t>
            </a:r>
          </a:p>
          <a:p>
            <a:pPr marL="914400" lvl="1" indent="-457200">
              <a:buAutoNum type="arabicPeriod"/>
            </a:pPr>
            <a:r>
              <a:rPr lang="en-US" sz="3300">
                <a:latin typeface="Georgia Pro"/>
                <a:ea typeface="Calibri"/>
                <a:cs typeface="Calibri"/>
              </a:rPr>
              <a:t> Determine the upper and lower threshold bounds</a:t>
            </a:r>
            <a:endParaRPr lang="en-US" sz="3300" b="1">
              <a:latin typeface="Georgia Pro"/>
              <a:ea typeface="Calibri"/>
              <a:cs typeface="Calibri"/>
            </a:endParaRPr>
          </a:p>
          <a:p>
            <a:pPr marL="914400" lvl="1" indent="-457200">
              <a:buAutoNum type="arabicPeriod"/>
            </a:pPr>
            <a:r>
              <a:rPr lang="en-US" sz="3300">
                <a:latin typeface="Georgia Pro"/>
                <a:ea typeface="Calibri"/>
                <a:cs typeface="Calibri"/>
              </a:rPr>
              <a:t> Determine k value for threshold sensitivity </a:t>
            </a:r>
          </a:p>
          <a:p>
            <a:pPr lvl="1"/>
            <a:endParaRPr lang="en-US" sz="3300">
              <a:latin typeface="Georgia Pro"/>
              <a:ea typeface="Calibri"/>
              <a:cs typeface="Calibri"/>
            </a:endParaRPr>
          </a:p>
          <a:p>
            <a:r>
              <a:rPr lang="en-US" sz="3300" b="1">
                <a:latin typeface="Georgia Pro"/>
                <a:ea typeface="Calibri"/>
                <a:cs typeface="Calibri"/>
              </a:rPr>
              <a:t>	Machine Learning Approach</a:t>
            </a:r>
          </a:p>
          <a:p>
            <a:pPr marL="971550" lvl="1" indent="-514350">
              <a:buAutoNum type="arabicPeriod"/>
            </a:pPr>
            <a:r>
              <a:rPr lang="en-US" sz="3300">
                <a:latin typeface="Georgia Pro"/>
              </a:rPr>
              <a:t>Split training and test data (60%, 40% respectively)</a:t>
            </a:r>
            <a:endParaRPr lang="en-US" sz="3300" b="1">
              <a:latin typeface="Georgia Pro"/>
            </a:endParaRPr>
          </a:p>
          <a:p>
            <a:pPr marL="971550" lvl="1" indent="-514350">
              <a:buAutoNum type="arabicPeriod"/>
            </a:pPr>
            <a:r>
              <a:rPr lang="en-US" sz="3300">
                <a:latin typeface="Georgia Pro"/>
                <a:ea typeface="Calibri"/>
                <a:cs typeface="Calibri"/>
              </a:rPr>
              <a:t>Determine optimal </a:t>
            </a:r>
            <a:r>
              <a:rPr lang="en-US" sz="3300" i="1">
                <a:latin typeface="Georgia Pro"/>
                <a:ea typeface="Calibri"/>
                <a:cs typeface="Calibri"/>
              </a:rPr>
              <a:t>k</a:t>
            </a:r>
            <a:r>
              <a:rPr lang="en-US" sz="3300">
                <a:latin typeface="Georgia Pro"/>
                <a:ea typeface="Calibri"/>
                <a:cs typeface="Calibri"/>
              </a:rPr>
              <a:t>-means value on training data</a:t>
            </a:r>
          </a:p>
          <a:p>
            <a:pPr marL="971550" lvl="1" indent="-514350">
              <a:buAutoNum type="arabicPeriod"/>
            </a:pPr>
            <a:r>
              <a:rPr lang="en-US" sz="3300">
                <a:latin typeface="Georgia Pro"/>
                <a:ea typeface="Calibri"/>
                <a:cs typeface="Calibri"/>
              </a:rPr>
              <a:t>Label training clusters </a:t>
            </a:r>
          </a:p>
          <a:p>
            <a:pPr marL="971550" lvl="1" indent="-514350">
              <a:buAutoNum type="arabicPeriod"/>
            </a:pPr>
            <a:r>
              <a:rPr lang="en-US" sz="3300">
                <a:latin typeface="Georgia Pro"/>
                <a:ea typeface="Calibri"/>
                <a:cs typeface="Calibri"/>
              </a:rPr>
              <a:t>Extract signal features from training data</a:t>
            </a:r>
          </a:p>
          <a:p>
            <a:pPr marL="971550" lvl="1" indent="-514350">
              <a:buAutoNum type="arabicPeriod"/>
            </a:pPr>
            <a:r>
              <a:rPr lang="en-US" sz="3300">
                <a:latin typeface="Georgia Pro"/>
                <a:ea typeface="Calibri"/>
                <a:cs typeface="Calibri"/>
              </a:rPr>
              <a:t>Train KNN Model on features and labels</a:t>
            </a:r>
          </a:p>
          <a:p>
            <a:pPr marL="971550" lvl="1" indent="-514350">
              <a:buAutoNum type="arabicPeriod"/>
            </a:pPr>
            <a:r>
              <a:rPr lang="en-US" sz="3300">
                <a:latin typeface="Georgia Pro"/>
                <a:ea typeface="Calibri"/>
                <a:cs typeface="Calibri"/>
              </a:rPr>
              <a:t>Predict classification on testing set</a:t>
            </a:r>
            <a:endParaRPr lang="en-US" sz="3300" b="1">
              <a:latin typeface="Georgia Pro"/>
              <a:ea typeface="Calibri" panose="020F0502020204030204"/>
              <a:cs typeface="Calibri" panose="020F0502020204030204"/>
            </a:endParaRPr>
          </a:p>
        </p:txBody>
      </p:sp>
      <p:sp>
        <p:nvSpPr>
          <p:cNvPr id="26" name="Text Box 158">
            <a:extLst>
              <a:ext uri="{FF2B5EF4-FFF2-40B4-BE49-F238E27FC236}">
                <a16:creationId xmlns:a16="http://schemas.microsoft.com/office/drawing/2014/main" id="{64E073AF-3A59-9E54-6AB5-FAF2A6CCC3B7}"/>
              </a:ext>
            </a:extLst>
          </p:cNvPr>
          <p:cNvSpPr txBox="1">
            <a:spLocks noChangeArrowheads="1"/>
          </p:cNvSpPr>
          <p:nvPr/>
        </p:nvSpPr>
        <p:spPr bwMode="auto">
          <a:xfrm>
            <a:off x="11988706" y="17761047"/>
            <a:ext cx="20448584" cy="954107"/>
          </a:xfrm>
          <a:prstGeom prst="rect">
            <a:avLst/>
          </a:prstGeom>
          <a:solidFill>
            <a:srgbClr val="990000"/>
          </a:solidFill>
          <a:ln>
            <a:solidFill>
              <a:srgbClr val="4472C4"/>
            </a:solid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lIns="182880" tIns="182880" rIns="182880" bIns="182880" anchor="t">
            <a:spAutoFit/>
          </a:bodyPr>
          <a:lstStyle/>
          <a:p>
            <a:pPr algn="ctr">
              <a:defRPr/>
            </a:pPr>
            <a:r>
              <a:rPr lang="en-US" sz="3800" b="1">
                <a:solidFill>
                  <a:schemeClr val="bg1"/>
                </a:solidFill>
                <a:latin typeface="Georgia Pro"/>
                <a:cs typeface="Arial"/>
              </a:rPr>
              <a:t>Transient and Non-Transient Signals </a:t>
            </a:r>
            <a:endParaRPr lang="en-US" sz="3800" b="1">
              <a:solidFill>
                <a:schemeClr val="bg1"/>
              </a:solidFill>
              <a:latin typeface="Georgia Pro"/>
              <a:cs typeface="Arial" panose="020B0604020202020204" pitchFamily="34" charset="0"/>
            </a:endParaRPr>
          </a:p>
        </p:txBody>
      </p:sp>
      <p:sp>
        <p:nvSpPr>
          <p:cNvPr id="43" name="Text Box 6">
            <a:extLst>
              <a:ext uri="{FF2B5EF4-FFF2-40B4-BE49-F238E27FC236}">
                <a16:creationId xmlns:a16="http://schemas.microsoft.com/office/drawing/2014/main" id="{B0E4513B-ED49-D667-DCEE-0DEE5F370581}"/>
              </a:ext>
            </a:extLst>
          </p:cNvPr>
          <p:cNvSpPr txBox="1">
            <a:spLocks noChangeArrowheads="1"/>
          </p:cNvSpPr>
          <p:nvPr/>
        </p:nvSpPr>
        <p:spPr bwMode="auto">
          <a:xfrm>
            <a:off x="20249108" y="42183904"/>
            <a:ext cx="11983487" cy="5693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37160" tIns="68580" rIns="137160" bIns="68580">
            <a:spAutoFit/>
          </a:bodyPr>
          <a:lstStyle>
            <a:defPPr>
              <a:defRPr kern="1200" smtId="4294967295"/>
            </a:defPPr>
            <a:lvl1pPr defTabSz="4703763" eaLnBrk="0" hangingPunct="0">
              <a:defRPr sz="9300">
                <a:solidFill>
                  <a:schemeClr val="tx1"/>
                </a:solidFill>
                <a:latin typeface="Arial"/>
              </a:defRPr>
            </a:lvl1pPr>
            <a:lvl2pPr marL="742950" indent="-285750" defTabSz="4703763" eaLnBrk="0" hangingPunct="0">
              <a:defRPr sz="9300">
                <a:solidFill>
                  <a:schemeClr val="tx1"/>
                </a:solidFill>
                <a:latin typeface="Arial"/>
              </a:defRPr>
            </a:lvl2pPr>
            <a:lvl3pPr marL="1143000" indent="-228600" defTabSz="4703763" eaLnBrk="0" hangingPunct="0">
              <a:defRPr sz="9300">
                <a:solidFill>
                  <a:schemeClr val="tx1"/>
                </a:solidFill>
                <a:latin typeface="Arial"/>
              </a:defRPr>
            </a:lvl3pPr>
            <a:lvl4pPr marL="1600200" indent="-228600" defTabSz="4703763" eaLnBrk="0" hangingPunct="0">
              <a:defRPr sz="9300">
                <a:solidFill>
                  <a:schemeClr val="tx1"/>
                </a:solidFill>
                <a:latin typeface="Arial"/>
              </a:defRPr>
            </a:lvl4pPr>
            <a:lvl5pPr marL="2057400" indent="-228600" defTabSz="4703763" eaLnBrk="0" hangingPunct="0">
              <a:defRPr sz="9300">
                <a:solidFill>
                  <a:schemeClr val="tx1"/>
                </a:solidFill>
                <a:latin typeface="Arial"/>
              </a:defRPr>
            </a:lvl5pPr>
            <a:lvl6pPr marL="2514600" indent="-228600" defTabSz="4703763" eaLnBrk="0" fontAlgn="base" hangingPunct="0">
              <a:spcBef>
                <a:spcPct val="0"/>
              </a:spcBef>
              <a:spcAft>
                <a:spcPct val="0"/>
              </a:spcAft>
              <a:defRPr sz="9300">
                <a:solidFill>
                  <a:schemeClr val="tx1"/>
                </a:solidFill>
                <a:latin typeface="Arial"/>
              </a:defRPr>
            </a:lvl6pPr>
            <a:lvl7pPr marL="2971800" indent="-228600" defTabSz="4703763" eaLnBrk="0" fontAlgn="base" hangingPunct="0">
              <a:spcBef>
                <a:spcPct val="0"/>
              </a:spcBef>
              <a:spcAft>
                <a:spcPct val="0"/>
              </a:spcAft>
              <a:defRPr sz="9300">
                <a:solidFill>
                  <a:schemeClr val="tx1"/>
                </a:solidFill>
                <a:latin typeface="Arial"/>
              </a:defRPr>
            </a:lvl7pPr>
            <a:lvl8pPr marL="3429000" indent="-228600" defTabSz="4703763" eaLnBrk="0" fontAlgn="base" hangingPunct="0">
              <a:spcBef>
                <a:spcPct val="0"/>
              </a:spcBef>
              <a:spcAft>
                <a:spcPct val="0"/>
              </a:spcAft>
              <a:defRPr sz="9300">
                <a:solidFill>
                  <a:schemeClr val="tx1"/>
                </a:solidFill>
                <a:latin typeface="Arial"/>
              </a:defRPr>
            </a:lvl8pPr>
            <a:lvl9pPr marL="3886200" indent="-228600" defTabSz="4703763" eaLnBrk="0" fontAlgn="base" hangingPunct="0">
              <a:spcBef>
                <a:spcPct val="0"/>
              </a:spcBef>
              <a:spcAft>
                <a:spcPct val="0"/>
              </a:spcAft>
              <a:defRPr sz="9300">
                <a:solidFill>
                  <a:schemeClr val="tx1"/>
                </a:solidFill>
                <a:latin typeface="Arial"/>
              </a:defRPr>
            </a:lvl9pPr>
          </a:lstStyle>
          <a:p>
            <a:pPr algn="r" eaLnBrk="1" hangingPunct="1"/>
            <a:r>
              <a:rPr lang="en-US" sz="2800">
                <a:solidFill>
                  <a:schemeClr val="bg1"/>
                </a:solidFill>
              </a:rPr>
              <a:t>This work was supported in part by &lt;IUCREATE&gt;</a:t>
            </a:r>
            <a:endParaRPr lang="en-US" sz="3200">
              <a:solidFill>
                <a:schemeClr val="bg1"/>
              </a:solidFill>
            </a:endParaRPr>
          </a:p>
        </p:txBody>
      </p:sp>
      <p:sp>
        <p:nvSpPr>
          <p:cNvPr id="47" name="TextBox 46">
            <a:extLst>
              <a:ext uri="{FF2B5EF4-FFF2-40B4-BE49-F238E27FC236}">
                <a16:creationId xmlns:a16="http://schemas.microsoft.com/office/drawing/2014/main" id="{CACBA811-E2AF-D7A7-141F-C05E166F3CF6}"/>
              </a:ext>
            </a:extLst>
          </p:cNvPr>
          <p:cNvSpPr txBox="1"/>
          <p:nvPr/>
        </p:nvSpPr>
        <p:spPr>
          <a:xfrm>
            <a:off x="4245142" y="1335267"/>
            <a:ext cx="9475610" cy="1107996"/>
          </a:xfrm>
          <a:prstGeom prst="rect">
            <a:avLst/>
          </a:prstGeom>
          <a:noFill/>
        </p:spPr>
        <p:txBody>
          <a:bodyPr wrap="square" rtlCol="0">
            <a:spAutoFit/>
          </a:bodyPr>
          <a:lstStyle/>
          <a:p>
            <a:r>
              <a:rPr lang="en-US" sz="6600" b="1">
                <a:solidFill>
                  <a:schemeClr val="bg1"/>
                </a:solidFill>
              </a:rPr>
              <a:t>INDIANA UNIVERSITY</a:t>
            </a:r>
          </a:p>
        </p:txBody>
      </p:sp>
      <p:sp>
        <p:nvSpPr>
          <p:cNvPr id="49" name="TextBox 48">
            <a:extLst>
              <a:ext uri="{FF2B5EF4-FFF2-40B4-BE49-F238E27FC236}">
                <a16:creationId xmlns:a16="http://schemas.microsoft.com/office/drawing/2014/main" id="{8DE9AAA5-6C44-D603-4D60-FEF8811FA359}"/>
              </a:ext>
            </a:extLst>
          </p:cNvPr>
          <p:cNvSpPr txBox="1"/>
          <p:nvPr/>
        </p:nvSpPr>
        <p:spPr>
          <a:xfrm>
            <a:off x="4283242" y="2706191"/>
            <a:ext cx="8827910" cy="1323439"/>
          </a:xfrm>
          <a:prstGeom prst="rect">
            <a:avLst/>
          </a:prstGeom>
          <a:noFill/>
        </p:spPr>
        <p:txBody>
          <a:bodyPr wrap="square" rtlCol="0">
            <a:spAutoFit/>
          </a:bodyPr>
          <a:lstStyle/>
          <a:p>
            <a:r>
              <a:rPr lang="en-US" sz="4000">
                <a:solidFill>
                  <a:schemeClr val="bg1"/>
                </a:solidFill>
              </a:rPr>
              <a:t>LUDDY SCHOOL OF INFORMATICS, COMPUTING, AND ENGINEERING</a:t>
            </a:r>
          </a:p>
        </p:txBody>
      </p:sp>
      <p:sp>
        <p:nvSpPr>
          <p:cNvPr id="2" name="TextBox 1">
            <a:extLst>
              <a:ext uri="{FF2B5EF4-FFF2-40B4-BE49-F238E27FC236}">
                <a16:creationId xmlns:a16="http://schemas.microsoft.com/office/drawing/2014/main" id="{B3ED690B-FD6C-F5E1-0B32-A4AA371B8E86}"/>
              </a:ext>
            </a:extLst>
          </p:cNvPr>
          <p:cNvSpPr txBox="1"/>
          <p:nvPr/>
        </p:nvSpPr>
        <p:spPr>
          <a:xfrm>
            <a:off x="323486" y="38846048"/>
            <a:ext cx="32338240" cy="2246769"/>
          </a:xfrm>
          <a:prstGeom prst="rect">
            <a:avLst/>
          </a:prstGeom>
          <a:noFill/>
        </p:spPr>
        <p:txBody>
          <a:bodyPr wrap="square" lIns="91440" tIns="45720" rIns="91440" bIns="45720" rtlCol="0" anchor="t">
            <a:spAutoFit/>
          </a:bodyPr>
          <a:lstStyle/>
          <a:p>
            <a:pPr algn="just"/>
            <a:r>
              <a:rPr lang="en-US" sz="3500">
                <a:latin typeface="Georgia Pro"/>
              </a:rPr>
              <a:t>This study compares two methods for classifying Single Event Transient (SET) datasets: traditional statistical methods and machine learning (ML) techniques. The statistical method is effective for binary classification but may overclassify transient signals. ML methods like </a:t>
            </a:r>
            <a:r>
              <a:rPr lang="en-US" sz="3500" i="1">
                <a:latin typeface="Georgia Pro"/>
              </a:rPr>
              <a:t>k</a:t>
            </a:r>
            <a:r>
              <a:rPr lang="en-US" sz="3500">
                <a:latin typeface="Georgia Pro"/>
              </a:rPr>
              <a:t>-means and KNN are effective but may under classify noisy and low-intensity transients. Optimizing these methods can enhance precision, automate classification, and provide insights into radiation impacts and microelectronic system resilience. Future research can identify additional features to refine classification and apply these methods to a wider range of circuits.</a:t>
            </a:r>
          </a:p>
        </p:txBody>
      </p:sp>
      <p:sp>
        <p:nvSpPr>
          <p:cNvPr id="18" name="TextBox 17">
            <a:extLst>
              <a:ext uri="{FF2B5EF4-FFF2-40B4-BE49-F238E27FC236}">
                <a16:creationId xmlns:a16="http://schemas.microsoft.com/office/drawing/2014/main" id="{795F6030-17EE-60E0-5598-5202B3C2A18F}"/>
              </a:ext>
            </a:extLst>
          </p:cNvPr>
          <p:cNvSpPr txBox="1"/>
          <p:nvPr/>
        </p:nvSpPr>
        <p:spPr>
          <a:xfrm>
            <a:off x="23571878" y="37203443"/>
            <a:ext cx="5120314" cy="461665"/>
          </a:xfrm>
          <a:prstGeom prst="rect">
            <a:avLst/>
          </a:prstGeom>
          <a:noFill/>
        </p:spPr>
        <p:txBody>
          <a:bodyPr wrap="square" lIns="91440" tIns="45720" rIns="91440" bIns="45720" anchor="t">
            <a:spAutoFit/>
          </a:bodyPr>
          <a:lstStyle/>
          <a:p>
            <a:pPr algn="just"/>
            <a:r>
              <a:rPr lang="en-US" sz="2400">
                <a:latin typeface="Georgia Pro"/>
                <a:ea typeface="Calibri"/>
                <a:cs typeface="Calibri"/>
              </a:rPr>
              <a:t>Comparison of Experiment 5 results</a:t>
            </a:r>
            <a:endParaRPr lang="en-US" sz="2400">
              <a:latin typeface="Georgia Pro"/>
            </a:endParaRPr>
          </a:p>
        </p:txBody>
      </p:sp>
      <p:sp>
        <p:nvSpPr>
          <p:cNvPr id="6" name="TextBox 5">
            <a:extLst>
              <a:ext uri="{FF2B5EF4-FFF2-40B4-BE49-F238E27FC236}">
                <a16:creationId xmlns:a16="http://schemas.microsoft.com/office/drawing/2014/main" id="{CE80123A-0690-2BC0-1DB0-DB5F5C288A19}"/>
              </a:ext>
            </a:extLst>
          </p:cNvPr>
          <p:cNvSpPr txBox="1"/>
          <p:nvPr/>
        </p:nvSpPr>
        <p:spPr>
          <a:xfrm>
            <a:off x="12063846" y="11960305"/>
            <a:ext cx="20231631"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3600">
                <a:latin typeface="Georgia Pro"/>
                <a:cs typeface="Times New Roman"/>
              </a:rPr>
              <a:t>This study aims to investigate an effective methodology for SET detection and classification for transient and non-transient signals by comparing two approaches: statistical thresholding and machine learning classification using </a:t>
            </a:r>
            <a:r>
              <a:rPr lang="en-US" sz="3600" i="1">
                <a:latin typeface="Georgia Pro"/>
                <a:cs typeface="Times New Roman"/>
              </a:rPr>
              <a:t>k</a:t>
            </a:r>
            <a:r>
              <a:rPr lang="en-US" sz="3600">
                <a:latin typeface="Georgia Pro"/>
                <a:cs typeface="Times New Roman"/>
              </a:rPr>
              <a:t>-nearest neighbors (KNN). </a:t>
            </a:r>
          </a:p>
        </p:txBody>
      </p:sp>
      <p:pic>
        <p:nvPicPr>
          <p:cNvPr id="10" name="Picture 9" descr="A screenshot of a computer generated image&#10;&#10;Description automatically generated">
            <a:extLst>
              <a:ext uri="{FF2B5EF4-FFF2-40B4-BE49-F238E27FC236}">
                <a16:creationId xmlns:a16="http://schemas.microsoft.com/office/drawing/2014/main" id="{3B44DC75-7D73-BB98-E15B-1582B7CDF5D3}"/>
              </a:ext>
            </a:extLst>
          </p:cNvPr>
          <p:cNvPicPr>
            <a:picLocks noChangeAspect="1"/>
          </p:cNvPicPr>
          <p:nvPr/>
        </p:nvPicPr>
        <p:blipFill>
          <a:blip r:embed="rId3"/>
          <a:srcRect l="662" t="8295" r="261" b="1734"/>
          <a:stretch/>
        </p:blipFill>
        <p:spPr>
          <a:xfrm>
            <a:off x="13095110" y="13656550"/>
            <a:ext cx="18318186" cy="3873442"/>
          </a:xfrm>
          <a:prstGeom prst="rect">
            <a:avLst/>
          </a:prstGeom>
        </p:spPr>
      </p:pic>
      <p:sp>
        <p:nvSpPr>
          <p:cNvPr id="17" name="TextBox 16">
            <a:extLst>
              <a:ext uri="{FF2B5EF4-FFF2-40B4-BE49-F238E27FC236}">
                <a16:creationId xmlns:a16="http://schemas.microsoft.com/office/drawing/2014/main" id="{9D40B9DE-5E4A-04CC-9F06-D61216260635}"/>
              </a:ext>
            </a:extLst>
          </p:cNvPr>
          <p:cNvSpPr txBox="1"/>
          <p:nvPr/>
        </p:nvSpPr>
        <p:spPr>
          <a:xfrm>
            <a:off x="16228233" y="17310568"/>
            <a:ext cx="11896954" cy="4770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500">
                <a:latin typeface="Georgia Pro"/>
                <a:ea typeface="Calibri"/>
                <a:cs typeface="Calibri"/>
              </a:rPr>
              <a:t>Heatmap of raw data illustrating Standard Deviation of the entire dataset</a:t>
            </a:r>
            <a:endParaRPr lang="en-US" sz="2500">
              <a:latin typeface="Georgia Pro"/>
            </a:endParaRPr>
          </a:p>
        </p:txBody>
      </p:sp>
      <p:sp>
        <p:nvSpPr>
          <p:cNvPr id="20" name="TextBox 19">
            <a:extLst>
              <a:ext uri="{FF2B5EF4-FFF2-40B4-BE49-F238E27FC236}">
                <a16:creationId xmlns:a16="http://schemas.microsoft.com/office/drawing/2014/main" id="{A9E91887-4166-88F7-6D0C-C2013494D35F}"/>
              </a:ext>
            </a:extLst>
          </p:cNvPr>
          <p:cNvSpPr txBox="1"/>
          <p:nvPr/>
        </p:nvSpPr>
        <p:spPr>
          <a:xfrm>
            <a:off x="6087427" y="26206758"/>
            <a:ext cx="593885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Georgia Pro"/>
              </a:rPr>
              <a:t>Thresholding Approach</a:t>
            </a:r>
          </a:p>
        </p:txBody>
      </p:sp>
      <p:sp>
        <p:nvSpPr>
          <p:cNvPr id="22" name="TextBox 21">
            <a:extLst>
              <a:ext uri="{FF2B5EF4-FFF2-40B4-BE49-F238E27FC236}">
                <a16:creationId xmlns:a16="http://schemas.microsoft.com/office/drawing/2014/main" id="{903F1C61-B603-1076-D279-FAFBAEA3686B}"/>
              </a:ext>
            </a:extLst>
          </p:cNvPr>
          <p:cNvSpPr txBox="1"/>
          <p:nvPr/>
        </p:nvSpPr>
        <p:spPr>
          <a:xfrm>
            <a:off x="22316262" y="26241458"/>
            <a:ext cx="723102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Georgia Pro"/>
              </a:rPr>
              <a:t>Machine Learning Approach</a:t>
            </a:r>
            <a:endParaRPr lang="en-US" sz="3600">
              <a:latin typeface="Georgia Pro"/>
            </a:endParaRPr>
          </a:p>
          <a:p>
            <a:pPr algn="l"/>
            <a:endParaRPr lang="en-US">
              <a:ea typeface="Calibri"/>
              <a:cs typeface="Calibri"/>
            </a:endParaRPr>
          </a:p>
        </p:txBody>
      </p:sp>
      <p:grpSp>
        <p:nvGrpSpPr>
          <p:cNvPr id="37" name="Group 36">
            <a:extLst>
              <a:ext uri="{FF2B5EF4-FFF2-40B4-BE49-F238E27FC236}">
                <a16:creationId xmlns:a16="http://schemas.microsoft.com/office/drawing/2014/main" id="{DA2398FC-15DF-7310-B61D-C84D38E01C5A}"/>
              </a:ext>
            </a:extLst>
          </p:cNvPr>
          <p:cNvGrpSpPr/>
          <p:nvPr/>
        </p:nvGrpSpPr>
        <p:grpSpPr>
          <a:xfrm>
            <a:off x="818667" y="26766901"/>
            <a:ext cx="28828497" cy="5402317"/>
            <a:chOff x="12084357" y="19455274"/>
            <a:chExt cx="34264293" cy="6465878"/>
          </a:xfrm>
        </p:grpSpPr>
        <p:pic>
          <p:nvPicPr>
            <p:cNvPr id="32" name="Picture 31" descr="A diagram of a heatmap&#10;&#10;Description automatically generated">
              <a:extLst>
                <a:ext uri="{FF2B5EF4-FFF2-40B4-BE49-F238E27FC236}">
                  <a16:creationId xmlns:a16="http://schemas.microsoft.com/office/drawing/2014/main" id="{F93A70FD-0AF3-43F6-D864-399C58899EC8}"/>
                </a:ext>
              </a:extLst>
            </p:cNvPr>
            <p:cNvPicPr>
              <a:picLocks noChangeAspect="1"/>
            </p:cNvPicPr>
            <p:nvPr/>
          </p:nvPicPr>
          <p:blipFill>
            <a:blip r:embed="rId4"/>
            <a:stretch>
              <a:fillRect/>
            </a:stretch>
          </p:blipFill>
          <p:spPr>
            <a:xfrm>
              <a:off x="19171937" y="19489278"/>
              <a:ext cx="5770790" cy="5361215"/>
            </a:xfrm>
            <a:prstGeom prst="rect">
              <a:avLst/>
            </a:prstGeom>
          </p:spPr>
        </p:pic>
        <p:sp>
          <p:nvSpPr>
            <p:cNvPr id="13" name="TextBox 12">
              <a:extLst>
                <a:ext uri="{FF2B5EF4-FFF2-40B4-BE49-F238E27FC236}">
                  <a16:creationId xmlns:a16="http://schemas.microsoft.com/office/drawing/2014/main" id="{D10C82DF-6B95-E572-DB56-4877B6137BEE}"/>
                </a:ext>
              </a:extLst>
            </p:cNvPr>
            <p:cNvSpPr txBox="1"/>
            <p:nvPr/>
          </p:nvSpPr>
          <p:spPr>
            <a:xfrm>
              <a:off x="19043965" y="24889719"/>
              <a:ext cx="6765949" cy="10314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500">
                  <a:latin typeface="Georgia Pro"/>
                </a:rPr>
                <a:t>Binary classification for Experiment 2</a:t>
              </a:r>
            </a:p>
            <a:p>
              <a:pPr algn="just"/>
              <a:endParaRPr lang="en-US" sz="2500">
                <a:latin typeface="Georgia Pro"/>
              </a:endParaRPr>
            </a:p>
          </p:txBody>
        </p:sp>
        <p:grpSp>
          <p:nvGrpSpPr>
            <p:cNvPr id="36" name="Group 35">
              <a:extLst>
                <a:ext uri="{FF2B5EF4-FFF2-40B4-BE49-F238E27FC236}">
                  <a16:creationId xmlns:a16="http://schemas.microsoft.com/office/drawing/2014/main" id="{1F76C57F-EAA9-6D5F-BBA8-15BD816F8231}"/>
                </a:ext>
              </a:extLst>
            </p:cNvPr>
            <p:cNvGrpSpPr/>
            <p:nvPr/>
          </p:nvGrpSpPr>
          <p:grpSpPr>
            <a:xfrm>
              <a:off x="12084357" y="19455274"/>
              <a:ext cx="34264293" cy="5994307"/>
              <a:chOff x="12084357" y="19455274"/>
              <a:chExt cx="34264293" cy="5994307"/>
            </a:xfrm>
          </p:grpSpPr>
          <p:pic>
            <p:nvPicPr>
              <p:cNvPr id="3" name="Picture 2" descr="A diagram of a heatmap&#10;&#10;Description automatically generated">
                <a:extLst>
                  <a:ext uri="{FF2B5EF4-FFF2-40B4-BE49-F238E27FC236}">
                    <a16:creationId xmlns:a16="http://schemas.microsoft.com/office/drawing/2014/main" id="{8EB59FAD-5416-2A6F-7AC2-5F0D0BDD538E}"/>
                  </a:ext>
                </a:extLst>
              </p:cNvPr>
              <p:cNvPicPr>
                <a:picLocks noChangeAspect="1"/>
              </p:cNvPicPr>
              <p:nvPr/>
            </p:nvPicPr>
            <p:blipFill>
              <a:blip r:embed="rId5"/>
              <a:stretch>
                <a:fillRect/>
              </a:stretch>
            </p:blipFill>
            <p:spPr>
              <a:xfrm>
                <a:off x="26230490" y="19455274"/>
                <a:ext cx="5886451" cy="5389791"/>
              </a:xfrm>
              <a:prstGeom prst="rect">
                <a:avLst/>
              </a:prstGeom>
            </p:spPr>
          </p:pic>
          <p:grpSp>
            <p:nvGrpSpPr>
              <p:cNvPr id="35" name="Group 34">
                <a:extLst>
                  <a:ext uri="{FF2B5EF4-FFF2-40B4-BE49-F238E27FC236}">
                    <a16:creationId xmlns:a16="http://schemas.microsoft.com/office/drawing/2014/main" id="{C32EEE40-E066-C032-3B99-7C081403E967}"/>
                  </a:ext>
                </a:extLst>
              </p:cNvPr>
              <p:cNvGrpSpPr/>
              <p:nvPr/>
            </p:nvGrpSpPr>
            <p:grpSpPr>
              <a:xfrm>
                <a:off x="12084357" y="19472514"/>
                <a:ext cx="34264293" cy="5971241"/>
                <a:chOff x="12084357" y="19472514"/>
                <a:chExt cx="34264293" cy="5971241"/>
              </a:xfrm>
            </p:grpSpPr>
            <p:pic>
              <p:nvPicPr>
                <p:cNvPr id="31" name="Picture 30" descr="A graph of a binary heatmap&#10;&#10;Description automatically generated">
                  <a:extLst>
                    <a:ext uri="{FF2B5EF4-FFF2-40B4-BE49-F238E27FC236}">
                      <a16:creationId xmlns:a16="http://schemas.microsoft.com/office/drawing/2014/main" id="{961ECB67-CBEE-9900-0604-06FD02ADB992}"/>
                    </a:ext>
                  </a:extLst>
                </p:cNvPr>
                <p:cNvPicPr>
                  <a:picLocks noChangeAspect="1"/>
                </p:cNvPicPr>
                <p:nvPr/>
              </p:nvPicPr>
              <p:blipFill>
                <a:blip r:embed="rId6"/>
                <a:stretch>
                  <a:fillRect/>
                </a:stretch>
              </p:blipFill>
              <p:spPr>
                <a:xfrm>
                  <a:off x="12119612" y="19472514"/>
                  <a:ext cx="5762626" cy="5342165"/>
                </a:xfrm>
                <a:prstGeom prst="rect">
                  <a:avLst/>
                </a:prstGeom>
              </p:spPr>
            </p:pic>
            <p:sp>
              <p:nvSpPr>
                <p:cNvPr id="4" name="Rectangle 1">
                  <a:extLst>
                    <a:ext uri="{FF2B5EF4-FFF2-40B4-BE49-F238E27FC236}">
                      <a16:creationId xmlns:a16="http://schemas.microsoft.com/office/drawing/2014/main" id="{37557240-9A56-4BA5-1739-B03C0ED7460A}"/>
                    </a:ext>
                  </a:extLst>
                </p:cNvPr>
                <p:cNvSpPr>
                  <a:spLocks noChangeArrowheads="1"/>
                </p:cNvSpPr>
                <p:nvPr/>
              </p:nvSpPr>
              <p:spPr bwMode="auto">
                <a:xfrm>
                  <a:off x="13430250" y="24941213"/>
                  <a:ext cx="329184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5C2E0C27-BE00-6287-2A17-BF8B26F15093}"/>
                    </a:ext>
                  </a:extLst>
                </p:cNvPr>
                <p:cNvSpPr txBox="1"/>
                <p:nvPr/>
              </p:nvSpPr>
              <p:spPr>
                <a:xfrm>
                  <a:off x="12084357" y="24872783"/>
                  <a:ext cx="7058658" cy="570972"/>
                </a:xfrm>
                <a:prstGeom prst="rect">
                  <a:avLst/>
                </a:prstGeom>
                <a:noFill/>
              </p:spPr>
              <p:txBody>
                <a:bodyPr wrap="square" lIns="91440" tIns="45720" rIns="91440" bIns="45720" anchor="t">
                  <a:spAutoFit/>
                </a:bodyPr>
                <a:lstStyle/>
                <a:p>
                  <a:pPr algn="just"/>
                  <a:r>
                    <a:rPr lang="en-US" sz="2500">
                      <a:latin typeface="Georgia Pro"/>
                      <a:ea typeface="Times New Roman" panose="02020603050405020304" pitchFamily="18" charset="0"/>
                    </a:rPr>
                    <a:t>Binary classification for</a:t>
                  </a:r>
                  <a:r>
                    <a:rPr lang="en-US" sz="2500">
                      <a:effectLst/>
                      <a:latin typeface="Georgia Pro"/>
                      <a:ea typeface="Times New Roman" panose="02020603050405020304" pitchFamily="18" charset="0"/>
                    </a:rPr>
                    <a:t> Experiment </a:t>
                  </a:r>
                  <a:r>
                    <a:rPr lang="en-US" sz="2500">
                      <a:latin typeface="Georgia Pro"/>
                      <a:ea typeface="Times New Roman" panose="02020603050405020304" pitchFamily="18" charset="0"/>
                    </a:rPr>
                    <a:t>1 </a:t>
                  </a:r>
                  <a:endParaRPr lang="en-US" sz="2500">
                    <a:latin typeface="Georgia Pro"/>
                  </a:endParaRPr>
                </a:p>
              </p:txBody>
            </p:sp>
          </p:grpSp>
          <p:sp>
            <p:nvSpPr>
              <p:cNvPr id="14" name="TextBox 13">
                <a:extLst>
                  <a:ext uri="{FF2B5EF4-FFF2-40B4-BE49-F238E27FC236}">
                    <a16:creationId xmlns:a16="http://schemas.microsoft.com/office/drawing/2014/main" id="{2500FB09-C2E4-3413-44C2-19CBB2F9765D}"/>
                  </a:ext>
                </a:extLst>
              </p:cNvPr>
              <p:cNvSpPr txBox="1"/>
              <p:nvPr/>
            </p:nvSpPr>
            <p:spPr>
              <a:xfrm>
                <a:off x="26177954" y="24878609"/>
                <a:ext cx="6629254" cy="57097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500">
                    <a:latin typeface="Georgia Pro"/>
                  </a:rPr>
                  <a:t>Binary classification for Experiment 3​</a:t>
                </a:r>
                <a:endParaRPr lang="en-US" sz="2500"/>
              </a:p>
            </p:txBody>
          </p:sp>
        </p:grpSp>
      </p:grpSp>
      <p:sp>
        <p:nvSpPr>
          <p:cNvPr id="30" name="TextBox 29">
            <a:extLst>
              <a:ext uri="{FF2B5EF4-FFF2-40B4-BE49-F238E27FC236}">
                <a16:creationId xmlns:a16="http://schemas.microsoft.com/office/drawing/2014/main" id="{F0BEF5C4-1359-DF5B-5078-7165F5D6FE4A}"/>
              </a:ext>
            </a:extLst>
          </p:cNvPr>
          <p:cNvSpPr txBox="1"/>
          <p:nvPr/>
        </p:nvSpPr>
        <p:spPr>
          <a:xfrm>
            <a:off x="15379353" y="25288275"/>
            <a:ext cx="414643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800" b="1">
                <a:solidFill>
                  <a:srgbClr val="FFFFFF"/>
                </a:solidFill>
                <a:latin typeface="Georgia Pro"/>
              </a:rPr>
              <a:t>Results</a:t>
            </a:r>
            <a:endParaRPr lang="en-US" sz="3800" b="1">
              <a:solidFill>
                <a:srgbClr val="FFFFFF"/>
              </a:solidFill>
              <a:latin typeface="Georgia Pro"/>
              <a:cs typeface="Arial"/>
            </a:endParaRPr>
          </a:p>
        </p:txBody>
      </p:sp>
      <p:sp>
        <p:nvSpPr>
          <p:cNvPr id="38" name="TextBox 37">
            <a:extLst>
              <a:ext uri="{FF2B5EF4-FFF2-40B4-BE49-F238E27FC236}">
                <a16:creationId xmlns:a16="http://schemas.microsoft.com/office/drawing/2014/main" id="{5BD19BA6-EC69-9304-C24E-31793DE53488}"/>
              </a:ext>
            </a:extLst>
          </p:cNvPr>
          <p:cNvSpPr txBox="1"/>
          <p:nvPr/>
        </p:nvSpPr>
        <p:spPr>
          <a:xfrm>
            <a:off x="18821947" y="20830777"/>
            <a:ext cx="6644131" cy="13388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700" b="1" i="1">
                <a:latin typeface="Georgia Pro"/>
                <a:ea typeface="Segoe UI"/>
                <a:cs typeface="Segoe UI"/>
              </a:rPr>
              <a:t>Upper threshold</a:t>
            </a:r>
            <a:r>
              <a:rPr lang="en-US" sz="2700" i="1">
                <a:latin typeface="Georgia Pro"/>
                <a:ea typeface="Segoe UI"/>
                <a:cs typeface="Segoe UI"/>
              </a:rPr>
              <a:t>= mode + </a:t>
            </a:r>
            <a:r>
              <a:rPr lang="en-US" sz="2700">
                <a:latin typeface="Georgia Pro"/>
                <a:ea typeface="Segoe UI"/>
                <a:cs typeface="Segoe UI"/>
              </a:rPr>
              <a:t>k </a:t>
            </a:r>
            <a:r>
              <a:rPr lang="en-US" sz="2700" i="1">
                <a:latin typeface="Georgia Pro"/>
                <a:ea typeface="Segoe UI"/>
                <a:cs typeface="Segoe UI"/>
              </a:rPr>
              <a:t>*  </a:t>
            </a:r>
            <a:r>
              <a:rPr lang="en-US" sz="2700" i="1" err="1">
                <a:latin typeface="Georgia Pro"/>
                <a:ea typeface="Segoe UI"/>
                <a:cs typeface="Segoe UI"/>
              </a:rPr>
              <a:t>std_dev</a:t>
            </a:r>
            <a:r>
              <a:rPr lang="en-US" sz="2700">
                <a:latin typeface="Georgia Pro"/>
                <a:ea typeface="Times New Roman"/>
                <a:cs typeface="Times New Roman"/>
              </a:rPr>
              <a:t> </a:t>
            </a:r>
          </a:p>
          <a:p>
            <a:pPr algn="just"/>
            <a:endParaRPr lang="en-US" sz="2700">
              <a:latin typeface="Georgia Pro"/>
              <a:ea typeface="Segoe UI"/>
              <a:cs typeface="Times New Roman"/>
            </a:endParaRPr>
          </a:p>
          <a:p>
            <a:pPr algn="just"/>
            <a:r>
              <a:rPr lang="en-US" sz="2700" b="1" i="1">
                <a:latin typeface="Georgia Pro"/>
                <a:ea typeface="Segoe UI"/>
                <a:cs typeface="Segoe UI"/>
              </a:rPr>
              <a:t>Lower threshold</a:t>
            </a:r>
            <a:r>
              <a:rPr lang="en-US" sz="2700" i="1">
                <a:latin typeface="Georgia Pro"/>
                <a:ea typeface="Segoe UI"/>
                <a:cs typeface="Segoe UI"/>
              </a:rPr>
              <a:t>= mode - </a:t>
            </a:r>
            <a:r>
              <a:rPr lang="en-US" sz="2700">
                <a:latin typeface="Georgia Pro"/>
                <a:ea typeface="Segoe UI"/>
                <a:cs typeface="Segoe UI"/>
              </a:rPr>
              <a:t>k</a:t>
            </a:r>
            <a:r>
              <a:rPr lang="en-US" sz="2700" i="1">
                <a:latin typeface="Georgia Pro"/>
                <a:ea typeface="Segoe UI"/>
                <a:cs typeface="Segoe UI"/>
              </a:rPr>
              <a:t>  *  </a:t>
            </a:r>
            <a:r>
              <a:rPr lang="en-US" sz="2700" i="1" err="1">
                <a:latin typeface="Georgia Pro"/>
                <a:ea typeface="Segoe UI"/>
                <a:cs typeface="Segoe UI"/>
              </a:rPr>
              <a:t>std_dev</a:t>
            </a:r>
            <a:r>
              <a:rPr lang="en-US" sz="2700">
                <a:latin typeface="Georgia Pro"/>
                <a:ea typeface="Times New Roman"/>
                <a:cs typeface="Times New Roman"/>
              </a:rPr>
              <a:t> </a:t>
            </a:r>
            <a:endParaRPr lang="en-US" sz="2700">
              <a:latin typeface="Georgia Pro"/>
            </a:endParaRPr>
          </a:p>
        </p:txBody>
      </p:sp>
      <p:grpSp>
        <p:nvGrpSpPr>
          <p:cNvPr id="53" name="Group 52">
            <a:extLst>
              <a:ext uri="{FF2B5EF4-FFF2-40B4-BE49-F238E27FC236}">
                <a16:creationId xmlns:a16="http://schemas.microsoft.com/office/drawing/2014/main" id="{BB79A259-7516-5383-5E7B-DF35F27ED0DA}"/>
              </a:ext>
            </a:extLst>
          </p:cNvPr>
          <p:cNvGrpSpPr/>
          <p:nvPr/>
        </p:nvGrpSpPr>
        <p:grpSpPr>
          <a:xfrm>
            <a:off x="11988704" y="18965185"/>
            <a:ext cx="6952983" cy="6230987"/>
            <a:chOff x="12376929" y="19258026"/>
            <a:chExt cx="6625877" cy="5773825"/>
          </a:xfrm>
        </p:grpSpPr>
        <p:pic>
          <p:nvPicPr>
            <p:cNvPr id="33" name="Picture 32" descr="A graph showing a signal&#10;&#10;Description automatically generated">
              <a:extLst>
                <a:ext uri="{FF2B5EF4-FFF2-40B4-BE49-F238E27FC236}">
                  <a16:creationId xmlns:a16="http://schemas.microsoft.com/office/drawing/2014/main" id="{59AC7ADD-CF82-586E-9EAF-2A506E9FD2EB}"/>
                </a:ext>
              </a:extLst>
            </p:cNvPr>
            <p:cNvPicPr>
              <a:picLocks noChangeAspect="1"/>
            </p:cNvPicPr>
            <p:nvPr/>
          </p:nvPicPr>
          <p:blipFill>
            <a:blip r:embed="rId7"/>
            <a:stretch>
              <a:fillRect/>
            </a:stretch>
          </p:blipFill>
          <p:spPr>
            <a:xfrm>
              <a:off x="12376929" y="19258026"/>
              <a:ext cx="6625877" cy="4709310"/>
            </a:xfrm>
            <a:prstGeom prst="rect">
              <a:avLst/>
            </a:prstGeom>
          </p:spPr>
        </p:pic>
        <p:sp>
          <p:nvSpPr>
            <p:cNvPr id="39" name="TextBox 38">
              <a:extLst>
                <a:ext uri="{FF2B5EF4-FFF2-40B4-BE49-F238E27FC236}">
                  <a16:creationId xmlns:a16="http://schemas.microsoft.com/office/drawing/2014/main" id="{7881B9CE-AB3A-521B-38B4-AB1A399CA898}"/>
                </a:ext>
              </a:extLst>
            </p:cNvPr>
            <p:cNvSpPr txBox="1"/>
            <p:nvPr/>
          </p:nvSpPr>
          <p:spPr>
            <a:xfrm>
              <a:off x="12775808" y="24233305"/>
              <a:ext cx="6052240" cy="7985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500">
                  <a:latin typeface="Georgia Pro"/>
                  <a:ea typeface="Calibri"/>
                  <a:cs typeface="Calibri"/>
                </a:rPr>
                <a:t>Transient Signal at (50,50) in Experiment 1</a:t>
              </a:r>
            </a:p>
            <a:p>
              <a:endParaRPr lang="en-US" sz="2500">
                <a:latin typeface="Georgia Pro"/>
                <a:ea typeface="Calibri"/>
                <a:cs typeface="Calibri"/>
              </a:endParaRPr>
            </a:p>
          </p:txBody>
        </p:sp>
      </p:grpSp>
      <p:grpSp>
        <p:nvGrpSpPr>
          <p:cNvPr id="54" name="Group 53">
            <a:extLst>
              <a:ext uri="{FF2B5EF4-FFF2-40B4-BE49-F238E27FC236}">
                <a16:creationId xmlns:a16="http://schemas.microsoft.com/office/drawing/2014/main" id="{6CC29D72-0AA2-5BBB-70CF-67CD8808C06D}"/>
              </a:ext>
            </a:extLst>
          </p:cNvPr>
          <p:cNvGrpSpPr/>
          <p:nvPr/>
        </p:nvGrpSpPr>
        <p:grpSpPr>
          <a:xfrm>
            <a:off x="25387536" y="18967117"/>
            <a:ext cx="7049754" cy="6071060"/>
            <a:chOff x="25219548" y="19258026"/>
            <a:chExt cx="7049754" cy="5620498"/>
          </a:xfrm>
        </p:grpSpPr>
        <p:pic>
          <p:nvPicPr>
            <p:cNvPr id="34" name="Picture 33" descr="A blue and green line graph&#10;&#10;Description automatically generated">
              <a:extLst>
                <a:ext uri="{FF2B5EF4-FFF2-40B4-BE49-F238E27FC236}">
                  <a16:creationId xmlns:a16="http://schemas.microsoft.com/office/drawing/2014/main" id="{B2AC4309-C730-280A-6E71-C39ABE3EAF97}"/>
                </a:ext>
              </a:extLst>
            </p:cNvPr>
            <p:cNvPicPr>
              <a:picLocks noChangeAspect="1"/>
            </p:cNvPicPr>
            <p:nvPr/>
          </p:nvPicPr>
          <p:blipFill>
            <a:blip r:embed="rId8"/>
            <a:stretch>
              <a:fillRect/>
            </a:stretch>
          </p:blipFill>
          <p:spPr>
            <a:xfrm>
              <a:off x="25219548" y="19258026"/>
              <a:ext cx="7049754" cy="4852191"/>
            </a:xfrm>
            <a:prstGeom prst="rect">
              <a:avLst/>
            </a:prstGeom>
          </p:spPr>
        </p:pic>
        <p:sp>
          <p:nvSpPr>
            <p:cNvPr id="40" name="TextBox 39">
              <a:extLst>
                <a:ext uri="{FF2B5EF4-FFF2-40B4-BE49-F238E27FC236}">
                  <a16:creationId xmlns:a16="http://schemas.microsoft.com/office/drawing/2014/main" id="{89A2B57F-0A5D-5DF9-7BFB-F5A4799B621C}"/>
                </a:ext>
              </a:extLst>
            </p:cNvPr>
            <p:cNvSpPr txBox="1"/>
            <p:nvPr/>
          </p:nvSpPr>
          <p:spPr>
            <a:xfrm>
              <a:off x="25693775" y="24080706"/>
              <a:ext cx="6354790" cy="7978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500">
                  <a:latin typeface="Georgia Pro"/>
                  <a:cs typeface="Segoe UI"/>
                </a:rPr>
                <a:t>Non-Transient Signal at (50,50) in Experiment 1​</a:t>
              </a:r>
            </a:p>
          </p:txBody>
        </p:sp>
      </p:grpSp>
      <p:sp>
        <p:nvSpPr>
          <p:cNvPr id="42" name="TextBox 41">
            <a:extLst>
              <a:ext uri="{FF2B5EF4-FFF2-40B4-BE49-F238E27FC236}">
                <a16:creationId xmlns:a16="http://schemas.microsoft.com/office/drawing/2014/main" id="{7AB3A475-7DF2-4D53-AE9F-2C598054F3EB}"/>
              </a:ext>
            </a:extLst>
          </p:cNvPr>
          <p:cNvSpPr txBox="1"/>
          <p:nvPr/>
        </p:nvSpPr>
        <p:spPr>
          <a:xfrm>
            <a:off x="821200" y="31708471"/>
            <a:ext cx="19301833"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u="sng">
                <a:latin typeface="Georgia Pro"/>
                <a:ea typeface="Calibri"/>
                <a:cs typeface="Calibri"/>
              </a:rPr>
              <a:t>Thresholding Key Observations</a:t>
            </a:r>
          </a:p>
          <a:p>
            <a:pPr marL="457200" indent="-457200">
              <a:buFont typeface="Arial" panose="020B0604020202020204" pitchFamily="34" charset="0"/>
              <a:buChar char="•"/>
            </a:pPr>
            <a:r>
              <a:rPr lang="en-US" sz="3200">
                <a:latin typeface="Georgia Pro"/>
                <a:cs typeface="Calibri"/>
              </a:rPr>
              <a:t>The accuracy of the thresholding results depends on selecting an optimal k value</a:t>
            </a:r>
          </a:p>
          <a:p>
            <a:pPr marL="457200" indent="-457200">
              <a:buFont typeface="Arial" panose="020B0604020202020204" pitchFamily="34" charset="0"/>
              <a:buChar char="•"/>
            </a:pPr>
            <a:r>
              <a:rPr lang="en-US" sz="3200">
                <a:latin typeface="Georgia Pro"/>
                <a:cs typeface="Calibri"/>
              </a:rPr>
              <a:t>All transient sections were identified in each experiment</a:t>
            </a:r>
          </a:p>
          <a:p>
            <a:pPr marL="457200" indent="-457200">
              <a:buFont typeface="Arial" panose="020B0604020202020204" pitchFamily="34" charset="0"/>
              <a:buChar char="•"/>
            </a:pPr>
            <a:r>
              <a:rPr lang="en-US" sz="3200">
                <a:latin typeface="Georgia Pro"/>
                <a:cs typeface="Calibri"/>
              </a:rPr>
              <a:t>Potential overclassification of transient signals at the boundaries at certain transient regions</a:t>
            </a:r>
          </a:p>
        </p:txBody>
      </p:sp>
      <p:sp>
        <p:nvSpPr>
          <p:cNvPr id="44" name="TextBox 43">
            <a:extLst>
              <a:ext uri="{FF2B5EF4-FFF2-40B4-BE49-F238E27FC236}">
                <a16:creationId xmlns:a16="http://schemas.microsoft.com/office/drawing/2014/main" id="{C2B85DE2-30E8-5551-693A-4163E55A360F}"/>
              </a:ext>
            </a:extLst>
          </p:cNvPr>
          <p:cNvSpPr txBox="1"/>
          <p:nvPr/>
        </p:nvSpPr>
        <p:spPr>
          <a:xfrm>
            <a:off x="836436" y="33792743"/>
            <a:ext cx="2022248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u="sng">
                <a:latin typeface="Georgia Pro"/>
                <a:cs typeface="Arial"/>
              </a:rPr>
              <a:t>Machine Learning Key Observations</a:t>
            </a:r>
            <a:endParaRPr lang="en-US" sz="3200" u="sng">
              <a:latin typeface="Georgia Pro"/>
              <a:cs typeface="Arial"/>
            </a:endParaRPr>
          </a:p>
          <a:p>
            <a:pPr marL="457200" indent="-457200">
              <a:buFont typeface="Arial" panose="020B0604020202020204" pitchFamily="34" charset="0"/>
              <a:buChar char="•"/>
            </a:pPr>
            <a:r>
              <a:rPr lang="en-US" sz="3200">
                <a:latin typeface="Georgia Pro"/>
                <a:cs typeface="Calibri"/>
              </a:rPr>
              <a:t>KNN demonstrated effective classification of the most prominent transient sections</a:t>
            </a:r>
          </a:p>
          <a:p>
            <a:pPr marL="457200" indent="-457200">
              <a:buFont typeface="Arial" panose="020B0604020202020204" pitchFamily="34" charset="0"/>
              <a:buChar char="•"/>
            </a:pPr>
            <a:r>
              <a:rPr lang="en-US" sz="3200">
                <a:latin typeface="Georgia Pro"/>
                <a:cs typeface="Calibri"/>
              </a:rPr>
              <a:t>KNN exhibited successful classification in certain less prominent regions</a:t>
            </a:r>
          </a:p>
        </p:txBody>
      </p:sp>
      <p:pic>
        <p:nvPicPr>
          <p:cNvPr id="48" name="Picture 47">
            <a:extLst>
              <a:ext uri="{FF2B5EF4-FFF2-40B4-BE49-F238E27FC236}">
                <a16:creationId xmlns:a16="http://schemas.microsoft.com/office/drawing/2014/main" id="{4E871B62-54EC-FF59-23CD-3E62942C5721}"/>
              </a:ext>
            </a:extLst>
          </p:cNvPr>
          <p:cNvPicPr>
            <a:picLocks noChangeAspect="1"/>
          </p:cNvPicPr>
          <p:nvPr/>
        </p:nvPicPr>
        <p:blipFill>
          <a:blip r:embed="rId9"/>
          <a:stretch>
            <a:fillRect/>
          </a:stretch>
        </p:blipFill>
        <p:spPr>
          <a:xfrm>
            <a:off x="21467157" y="32551482"/>
            <a:ext cx="8929238" cy="4591229"/>
          </a:xfrm>
          <a:prstGeom prst="rect">
            <a:avLst/>
          </a:prstGeom>
        </p:spPr>
      </p:pic>
      <p:pic>
        <p:nvPicPr>
          <p:cNvPr id="50" name="Picture 49">
            <a:extLst>
              <a:ext uri="{FF2B5EF4-FFF2-40B4-BE49-F238E27FC236}">
                <a16:creationId xmlns:a16="http://schemas.microsoft.com/office/drawing/2014/main" id="{14B53025-8CBD-5CC7-A9A4-B44DA3301715}"/>
              </a:ext>
            </a:extLst>
          </p:cNvPr>
          <p:cNvPicPr>
            <a:picLocks noChangeAspect="1"/>
          </p:cNvPicPr>
          <p:nvPr/>
        </p:nvPicPr>
        <p:blipFill>
          <a:blip r:embed="rId10"/>
          <a:stretch>
            <a:fillRect/>
          </a:stretch>
        </p:blipFill>
        <p:spPr>
          <a:xfrm>
            <a:off x="21167066" y="26876377"/>
            <a:ext cx="9198377" cy="4993000"/>
          </a:xfrm>
          <a:prstGeom prst="rect">
            <a:avLst/>
          </a:prstGeom>
        </p:spPr>
      </p:pic>
      <p:sp>
        <p:nvSpPr>
          <p:cNvPr id="51" name="TextBox 50">
            <a:extLst>
              <a:ext uri="{FF2B5EF4-FFF2-40B4-BE49-F238E27FC236}">
                <a16:creationId xmlns:a16="http://schemas.microsoft.com/office/drawing/2014/main" id="{D766771C-EE0F-0792-53C1-5C1302B307EE}"/>
              </a:ext>
            </a:extLst>
          </p:cNvPr>
          <p:cNvSpPr txBox="1"/>
          <p:nvPr/>
        </p:nvSpPr>
        <p:spPr>
          <a:xfrm>
            <a:off x="821200" y="35271803"/>
            <a:ext cx="19073320"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b="1" u="sng">
                <a:latin typeface="Georgia Pro"/>
                <a:ea typeface="Calibri"/>
                <a:cs typeface="Calibri"/>
              </a:rPr>
              <a:t>Comparison</a:t>
            </a:r>
          </a:p>
          <a:p>
            <a:r>
              <a:rPr lang="en-US" sz="3200" u="sng">
                <a:latin typeface="Georgia Pro"/>
                <a:ea typeface="Calibri"/>
                <a:cs typeface="Calibri"/>
              </a:rPr>
              <a:t>Experiment 4</a:t>
            </a:r>
            <a:r>
              <a:rPr lang="en-US" sz="3200">
                <a:latin typeface="Georgia Pro"/>
                <a:ea typeface="Calibri"/>
                <a:cs typeface="Calibri"/>
              </a:rPr>
              <a:t>:</a:t>
            </a:r>
            <a:r>
              <a:rPr lang="en-US" sz="3200" b="1">
                <a:latin typeface="Georgia Pro"/>
                <a:ea typeface="Calibri"/>
                <a:cs typeface="Calibri"/>
              </a:rPr>
              <a:t> </a:t>
            </a:r>
            <a:r>
              <a:rPr lang="en-US" sz="3200">
                <a:latin typeface="Georgia Pro"/>
                <a:ea typeface="Calibri"/>
                <a:cs typeface="Calibri"/>
              </a:rPr>
              <a:t>69% fewer transient detections using machine learning prediction with 85.1% similarity score</a:t>
            </a:r>
          </a:p>
          <a:p>
            <a:r>
              <a:rPr lang="en-US" sz="3200" u="sng">
                <a:latin typeface="Georgia Pro"/>
                <a:ea typeface="Calibri"/>
                <a:cs typeface="Calibri"/>
              </a:rPr>
              <a:t>Experiment 5:</a:t>
            </a:r>
            <a:r>
              <a:rPr lang="en-US" sz="3200">
                <a:latin typeface="Georgia Pro"/>
                <a:ea typeface="Calibri"/>
                <a:cs typeface="Calibri"/>
              </a:rPr>
              <a:t> 50.29% fewer transient detections using machine learning predictions with 73.51% similarity score</a:t>
            </a:r>
          </a:p>
        </p:txBody>
      </p:sp>
      <p:sp>
        <p:nvSpPr>
          <p:cNvPr id="52" name="TextBox 51">
            <a:extLst>
              <a:ext uri="{FF2B5EF4-FFF2-40B4-BE49-F238E27FC236}">
                <a16:creationId xmlns:a16="http://schemas.microsoft.com/office/drawing/2014/main" id="{C7D76CCD-8145-EF45-E74E-05AF9CA48E96}"/>
              </a:ext>
            </a:extLst>
          </p:cNvPr>
          <p:cNvSpPr txBox="1"/>
          <p:nvPr/>
        </p:nvSpPr>
        <p:spPr>
          <a:xfrm>
            <a:off x="23571878" y="31929840"/>
            <a:ext cx="594173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a:latin typeface="Georgia Pro"/>
                <a:ea typeface="Calibri"/>
                <a:cs typeface="Calibri"/>
              </a:rPr>
              <a:t>Comparison of Experiment 4 results</a:t>
            </a:r>
            <a:endParaRPr lang="en-US" sz="2400">
              <a:latin typeface="Georgia Pro"/>
            </a:endParaRPr>
          </a:p>
        </p:txBody>
      </p:sp>
    </p:spTree>
    <p:extLst>
      <p:ext uri="{BB962C8B-B14F-4D97-AF65-F5344CB8AC3E}">
        <p14:creationId xmlns:p14="http://schemas.microsoft.com/office/powerpoint/2010/main" val="187306666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4D24327C6856449D6DE9ACFD340771" ma:contentTypeVersion="15" ma:contentTypeDescription="Create a new document." ma:contentTypeScope="" ma:versionID="8ffb3f29c8f0dbc884a53893d348d76b">
  <xsd:schema xmlns:xsd="http://www.w3.org/2001/XMLSchema" xmlns:xs="http://www.w3.org/2001/XMLSchema" xmlns:p="http://schemas.microsoft.com/office/2006/metadata/properties" xmlns:ns2="646ec821-4e6c-48b0-a1e0-0c7226b1eeba" xmlns:ns3="af607ce8-8f05-4860-8bb7-9b1d8c4d0492" targetNamespace="http://schemas.microsoft.com/office/2006/metadata/properties" ma:root="true" ma:fieldsID="18b4ebaa8cfba868dae09ff259d5285a" ns2:_="" ns3:_="">
    <xsd:import namespace="646ec821-4e6c-48b0-a1e0-0c7226b1eeba"/>
    <xsd:import namespace="af607ce8-8f05-4860-8bb7-9b1d8c4d049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6ec821-4e6c-48b0-a1e0-0c7226b1ee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0eec0a79-46cb-4568-9b1b-2d720bd3207c"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f607ce8-8f05-4860-8bb7-9b1d8c4d0492"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84eff09-6461-4f65-922a-45b6139b2ed2}" ma:internalName="TaxCatchAll" ma:showField="CatchAllData" ma:web="af607ce8-8f05-4860-8bb7-9b1d8c4d0492">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af607ce8-8f05-4860-8bb7-9b1d8c4d0492" xsi:nil="true"/>
    <lcf76f155ced4ddcb4097134ff3c332f xmlns="646ec821-4e6c-48b0-a1e0-0c7226b1eeba">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73AED13-2279-42DA-9AF5-D4B0635852D5}">
  <ds:schemaRefs>
    <ds:schemaRef ds:uri="646ec821-4e6c-48b0-a1e0-0c7226b1eeba"/>
    <ds:schemaRef ds:uri="af607ce8-8f05-4860-8bb7-9b1d8c4d049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0F29C64-629A-489A-934A-8E6B8AEEF05F}">
  <ds:schemaRefs>
    <ds:schemaRef ds:uri="646ec821-4e6c-48b0-a1e0-0c7226b1eeba"/>
    <ds:schemaRef ds:uri="af607ce8-8f05-4860-8bb7-9b1d8c4d049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703FCE3A-E467-480B-8BC9-DB3D44A14CD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0</TotalTime>
  <Words>646</Words>
  <Application>Microsoft Office PowerPoint</Application>
  <PresentationFormat>Custom</PresentationFormat>
  <Paragraphs>58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Georgia Pro</vt:lpstr>
      <vt:lpstr>Office 2013 - 2022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Samantha Woodward</cp:lastModifiedBy>
  <cp:revision>2</cp:revision>
  <cp:lastPrinted>2024-12-20T18:00:18Z</cp:lastPrinted>
  <dcterms:created xsi:type="dcterms:W3CDTF">2019-07-31T13:51:31Z</dcterms:created>
  <dcterms:modified xsi:type="dcterms:W3CDTF">2024-12-20T23:05:27Z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0x010100784D24327C6856449D6DE9ACFD340771</vt:lpwstr>
  </property>
</Properties>
</file>